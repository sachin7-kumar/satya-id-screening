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\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

<file path=ppt\_rels\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\notesSlides\_rels\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\notesSlides\_rels\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\notesSlides\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\notesSlides\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\slideLayouts\_rels\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pie_chart_ncrb.png"/></Relationships>
</file>

<file path=ppt\slides\_rels\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user_flowchart.png"/></Relationships>
</file>

<file path=ppt\slides\_rels\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feasibility_card.png"/></Relationships>
</file>

<file path=ppt\slides\_rels\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pie_chart_detection.png"/></Relationships>
</file>

<file path=ppt\slides\_rels\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compliance_card.png"/></Relationships>
</file>

<file path=ppt\slides\_rels\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prototype_card.png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25000"/>
              </a:lnSpc>
              <a:spcBef>
                <a:spcPts val="160"/>
              </a:spcBef>
              <a:spcAft>
                <a:spcPts val="9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Problem Statement ID – </a:t>
            </a:r>
            <a:r>
              <a:rPr lang="en-US" sz="1800" b="1">
                <a:solidFill>
                  <a:srgbClr val="0070C0"/>
                </a:solidFill>
                <a:latin typeface="Arial"/>
                <a:cs typeface="Arial"/>
              </a:rPr>
              <a:t>SIH26188</a:t>
            </a:r>
            <a:r>
              <a:rPr lang="en-US" sz="1600">
                <a:solidFill>
                  <a:srgbClr val="475569"/>
                </a:solidFill>
                <a:latin typeface="Arial"/>
                <a:cs typeface="Arial"/>
              </a:rPr>
              <a:t> (Ministry of Home Affairs / I4C)</a:t>
            </a:r>
          </a:p>
          <a:p>
            <a:pPr marL="285750" indent="-285750" algn="l">
              <a:lnSpc>
                <a:spcPct val="118000"/>
              </a:lnSpc>
              <a:spcBef>
                <a:spcPts val="110"/>
              </a:spcBef>
              <a:spcAft>
                <a:spcPts val="6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Problem Statement Title- </a:t>
            </a:r>
            <a:r>
              <a:rPr lang="en-US" sz="1700">
                <a:solidFill>
                  <a:srgbClr val="1E293B"/>
                </a:solidFill>
                <a:latin typeface="Arial"/>
                <a:cs typeface="Arial"/>
              </a:rPr>
              <a:t>AI-Based Fake Identity &amp; Document Screening System</a:t>
            </a:r>
          </a:p>
          <a:p>
            <a:pPr marL="285750" indent="-285750" algn="l">
              <a:lnSpc>
                <a:spcPct val="118000"/>
              </a:lnSpc>
              <a:spcBef>
                <a:spcPts val="110"/>
              </a:spcBef>
              <a:spcAft>
                <a:spcPts val="6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Theme- </a:t>
            </a:r>
            <a:r>
              <a:rPr lang="en-US" sz="1700">
                <a:solidFill>
                  <a:srgbClr val="1E293B"/>
                </a:solidFill>
                <a:latin typeface="Arial"/>
                <a:cs typeface="Arial"/>
              </a:rPr>
              <a:t>Security &amp; Surveillance / Cyber Security / Smart Automation</a:t>
            </a:r>
          </a:p>
          <a:p>
            <a:pPr marL="285750" indent="-285750" algn="l">
              <a:lnSpc>
                <a:spcPct val="118000"/>
              </a:lnSpc>
              <a:spcBef>
                <a:spcPts val="110"/>
              </a:spcBef>
              <a:spcAft>
                <a:spcPts val="6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PS Category- Software/Hardware: </a:t>
            </a:r>
            <a:r>
              <a:rPr lang="en-US" sz="1700" b="1">
                <a:solidFill>
                  <a:srgbClr val="0070C0"/>
                </a:solidFill>
                <a:latin typeface="Arial"/>
                <a:cs typeface="Arial"/>
              </a:rPr>
              <a:t>Software</a:t>
            </a:r>
          </a:p>
          <a:p>
            <a:pPr marL="285750" indent="-285750" algn="l">
              <a:lnSpc>
                <a:spcPct val="118000"/>
              </a:lnSpc>
              <a:spcBef>
                <a:spcPts val="110"/>
              </a:spcBef>
              <a:spcAft>
                <a:spcPts val="6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Team ID- </a:t>
            </a:r>
            <a:r>
              <a:rPr lang="en-US" sz="1700">
                <a:solidFill>
                  <a:srgbClr val="475569"/>
                </a:solidFill>
                <a:latin typeface="Arial"/>
                <a:cs typeface="Arial"/>
              </a:rPr>
              <a:t>[Your Registered Team ID]</a:t>
            </a:r>
          </a:p>
          <a:p>
            <a:pPr marL="285750" indent="-285750" algn="l">
              <a:lnSpc>
                <a:spcPct val="118000"/>
              </a:lnSpc>
              <a:spcBef>
                <a:spcPts val="110"/>
              </a:spcBef>
              <a:spcAft>
                <a:spcPts val="6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Team Name (Registered on portal): </a:t>
            </a:r>
            <a:r>
              <a:rPr lang="en-US" sz="1800" b="1">
                <a:solidFill>
                  <a:srgbClr val="0070C0"/>
                </a:solidFill>
                <a:latin typeface="Arial"/>
                <a:cs typeface="Arial"/>
              </a:rPr>
              <a:t>SATYA-ID</a:t>
            </a:r>
            <a:r>
              <a:rPr lang="en-US" sz="1600">
                <a:solidFill>
                  <a:srgbClr val="475569"/>
                </a:solidFill>
                <a:latin typeface="Arial"/>
                <a:cs typeface="Arial"/>
              </a:rPr>
              <a:t> (National Document Screening Team)</a:t>
            </a:r>
          </a:p>
          <a:p>
            <a:pPr marL="285750" indent="-285750" algn="l">
              <a:lnSpc>
                <a:spcPct val="118000"/>
              </a:lnSpc>
              <a:spcBef>
                <a:spcPts val="110"/>
              </a:spcBef>
              <a:spcAft>
                <a:spcPts val="6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Live Production URL: </a:t>
            </a:r>
            <a:r>
              <a:rPr lang="en-US" sz="1700" b="1" u="sng">
                <a:solidFill>
                  <a:srgbClr val="059669"/>
                </a:solidFill>
                <a:latin typeface="Arial"/>
                <a:cs typeface="Arial"/>
              </a:rPr>
              <a:t>https://satya-id-screening.vercel.app</a:t>
            </a:r>
            <a:r>
              <a:rPr lang="en-US" sz="1500">
                <a:solidFill>
                  <a:srgbClr val="10B981"/>
                </a:solidFill>
                <a:latin typeface="Arial"/>
                <a:cs typeface="Arial"/>
              </a:rPr>
              <a:t> [200 OK Live]</a:t>
            </a:r>
          </a:p>
          <a:p>
            <a:pPr marL="285750" indent="-285750" algn="l">
              <a:lnSpc>
                <a:spcPct val="118000"/>
              </a:lnSpc>
              <a:spcBef>
                <a:spcPts val="110"/>
              </a:spcBef>
              <a:spcAft>
                <a:spcPts val="60"/>
              </a:spcAft>
              <a:buFont typeface="Arial"/>
              <a:buChar char="•"/>
            </a:pPr>
            <a:r>
              <a:rPr lang="en-US" sz="1800" b="1">
                <a:solidFill>
                  <a:srgbClr val="0F172A"/>
                </a:solidFill>
                <a:latin typeface="Arial"/>
                <a:cs typeface="Arial"/>
              </a:rPr>
              <a:t>GitHub Repository: </a:t>
            </a:r>
            <a:r>
              <a:rPr lang="en-US" sz="1700" b="1" u="sng">
                <a:solidFill>
                  <a:srgbClr val="0070C0"/>
                </a:solidFill>
                <a:latin typeface="Arial"/>
                <a:cs typeface="Arial"/>
              </a:rPr>
              <a:t>https://github.com/Sachin7-kumar/satya-id-screening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 bwMode="auto">
          <a:xfrm>
            <a:off x="1750000" y="200000"/>
            <a:ext cx="7900000" cy="850000"/>
          </a:xfrm>
          <a:prstGeom prst="rect">
            <a:avLst/>
          </a:prstGeom>
          <a:noFill/>
        </p:spPr>
        <p:txBody>
          <a:bodyPr anchor="ctr" wrap="square">
            <a:spAutoFit/>
          </a:bodyPr>
          <a:lstStyle/>
          <a:p>
            <a:pPr algn="ctr"/>
            <a:r>
              <a:rPr lang="en-US" sz="3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09600" y="1180000"/>
            <a:ext cx="6400000" cy="495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18000"/>
              </a:lnSpc>
              <a:spcBef>
                <a:spcPts val="130"/>
              </a:spcBef>
              <a:spcAft>
                <a:spcPts val="50"/>
              </a:spcAft>
              <a:buFont typeface="Wingdings" pitchFamily="2" charset="2"/>
              <a:buChar char="v"/>
            </a:pPr>
            <a:r>
              <a:rPr lang="en-US" sz="1550" b="1" u="sng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Multi-Spectral 5-Tier Forensic Engine: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Math Checksums, ELA, Metrology, Face Morph, Gemini AI (&lt;40ms)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Zero-Storage In-RAM Execution: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Section 8 DPDP Act 2023 compliant; 0 disk persistence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Operational Web Application: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Live on Vercel (https://satya-id-screening.vercel.app)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How it addresses the problem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Pixel-Level Tamper Forensics: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Exposes splices &amp; font drift that bypass blind OCR models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Halts Ground Cybercrime: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Targets 71.2% document forgery in 65,893+ NCRB cases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Innovation and uniqueness of the solution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Automated Section 63 BSA 2023: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Court-admissible electronic certificate with SHA-256 seal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Edge-Native Velocity: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18–34ms Latency | 1,620 Docs/Min | &lt;0.18% FPR on commodity PCs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00" b="1" dirty="0">
                <a:solidFill>
                  <a:srgbClr val="0070C0"/>
                </a:solidFill>
                <a:latin typeface="Arial"/>
                <a:cs typeface="Arial"/>
              </a:rPr>
              <a:t>Team SATYA-ID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001" name="NCRB Cyber Crime Forgery Breakdown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7150000" y="1750000"/>
            <a:ext cx="4600000" cy="36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 bwMode="auto">
          <a:xfrm>
            <a:off x="1750000" y="200000"/>
            <a:ext cx="7900000" cy="850000"/>
          </a:xfrm>
          <a:prstGeom prst="rect">
            <a:avLst/>
          </a:prstGeom>
          <a:noFill/>
        </p:spPr>
        <p:txBody>
          <a:bodyPr anchor="ctr" wrap="square">
            <a:spAutoFit/>
          </a:bodyPr>
          <a:lstStyle/>
          <a:p>
            <a:pPr algn="ctr"/>
            <a:r>
              <a:rPr lang="en-US" sz="3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180000"/>
            <a:ext cx="10972800" cy="232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Forensic Core Engines: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C++, WebAssembly &amp; Python (OpenCV, DCT Fourier, Verhoeff D5)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Platform Stack: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React 19 + Vite HUD, Express 5 Serverless on Vercel, Node.js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Open-Source Repository: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https://github.com/Sachin7-kumar/satya-id-screening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AI &amp; Hardware Specs: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Google AI Studio (Gemini Flash) | Commodity PC (4GB RAM, 0 GPU)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5-Stage Sequential Pipeline: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RAM Ingest ➔ Checksums (&lt;5ms) ➔ ELA Physics ➔ Metrology/Morph ➔ Sec 63 BSA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Validated Edge Benchmarks: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18–34ms Latency | 1,620 Docs/Min | 100% Offline Edge Autonomy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00" b="1" dirty="0">
                <a:solidFill>
                  <a:srgbClr val="0070C0"/>
                </a:solidFill>
                <a:latin typeface="Arial"/>
                <a:cs typeface="Arial"/>
              </a:rPr>
              <a:t>Team SATYA-ID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002" name="SATYA-ID User Flowchart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9600" y="3550000"/>
            <a:ext cx="10972800" cy="265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 bwMode="auto">
          <a:xfrm>
            <a:off x="1750000" y="200000"/>
            <a:ext cx="7900000" cy="850000"/>
          </a:xfrm>
          <a:prstGeom prst="rect">
            <a:avLst/>
          </a:prstGeom>
          <a:noFill/>
        </p:spPr>
        <p:txBody>
          <a:bodyPr anchor="ctr" wrap="square">
            <a:spAutoFit/>
          </a:bodyPr>
          <a:lstStyle/>
          <a:p>
            <a:pPr algn="ctr"/>
            <a:r>
              <a:rPr lang="en-US" sz="3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180000"/>
            <a:ext cx="6400000" cy="495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Zero CapEx Deployment: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Plugs into Standard Webcams &amp; Existing Desks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Complete Edge Autonomy: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18–34ms Scan | 1,620 Docs/Min Edge Autonomy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GenAI Inpainting Risk: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Diffusion synthesis generates realistic text without pixel seams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Social Media Noise: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Multi-Pass WhatsApp/Telegram Recompression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Judicial Scrutiny: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Legal Evidentiary Defense Challenges in Court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Strategies for overcoming these challenges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Laplacian Metrology: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High-Pass Filters for Diffusion Artifacts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Adaptive ELA Differencing: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Dynamic Scaling (10x–45x) Isolating Splices</a:t>
            </a:r>
          </a:p>
          <a:p>
            <a:pPr marL="550000" indent="-200000" algn="l">
              <a:lnSpc>
                <a:spcPct val="118000"/>
              </a:lnSpc>
              <a:spcBef>
                <a:spcPts val="48"/>
              </a:spcBef>
              <a:spcAft>
                <a:spcPts val="24"/>
              </a:spcAft>
              <a:buFont typeface="Arial" pitchFamily="34" charset="0"/>
              <a:buChar char="–"/>
            </a:pPr>
            <a:r>
              <a:rPr lang="en-US" sz="125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Section 63 BSA Proofs: </a:t>
            </a:r>
            <a:r>
              <a:rPr lang="en-US" sz="125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Automated Cryptographic SHA-256 Digests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00" b="1" dirty="0">
                <a:solidFill>
                  <a:srgbClr val="0070C0"/>
                </a:solidFill>
                <a:latin typeface="Arial"/>
                <a:cs typeface="Arial"/>
              </a:rPr>
              <a:t>Team SATYA-ID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004" name="Feasibility &amp; Performance Benchmarks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7150000" y="1750000"/>
            <a:ext cx="4600000" cy="3680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 bwMode="auto">
          <a:xfrm>
            <a:off x="1750000" y="200000"/>
            <a:ext cx="7900000" cy="850000"/>
          </a:xfrm>
          <a:prstGeom prst="rect">
            <a:avLst/>
          </a:prstGeom>
          <a:noFill/>
        </p:spPr>
        <p:txBody>
          <a:bodyPr anchor="ctr" wrap="square">
            <a:spAutoFit/>
          </a:bodyPr>
          <a:lstStyle/>
          <a:p>
            <a:pPr algn="ctr"/>
            <a:r>
              <a:rPr lang="en-US" sz="3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180000"/>
            <a:ext cx="6400000" cy="495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Potential impact on the target audience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MHA &amp; I4C Cyber Command: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Real-Time Syndicate Cluster Mapping (Jamtara &amp; Mewat)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Law Enforcement &amp; Courts: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Turnaround Slashed from 6–9 Months to Under 1 Second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Banks &amp; Telecom Kiosks: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Eliminates Synthetic ID Loans &amp; Shuts Down Ghost SIMs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Economic Benefits: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₹10,000+ Crore Fraud Prevented | 94% KYC Cost Slashed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Social Protection: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Shields Citizens from Digital Arrest Cyber Extortion Rings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National Security: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Closes 68% Face Morph Evasion Vulnerability at Airport E-Gates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Operational Impact: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100% Paperless Digital Evidence Pipeline (0 Physical Transit)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00" b="1" dirty="0">
                <a:solidFill>
                  <a:srgbClr val="0070C0"/>
                </a:solidFill>
                <a:latin typeface="Arial"/>
                <a:cs typeface="Arial"/>
              </a:rPr>
              <a:t>Team SATYA-ID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003" name="Operational Impact &amp; Detection Breakdown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7150000" y="1750000"/>
            <a:ext cx="4600000" cy="3680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 bwMode="auto">
          <a:xfrm>
            <a:off x="1750000" y="200000"/>
            <a:ext cx="7900000" cy="850000"/>
          </a:xfrm>
          <a:prstGeom prst="rect">
            <a:avLst/>
          </a:prstGeom>
          <a:noFill/>
        </p:spPr>
        <p:txBody>
          <a:bodyPr anchor="ctr" wrap="square">
            <a:spAutoFit/>
          </a:bodyPr>
          <a:lstStyle/>
          <a:p>
            <a:pPr algn="ctr"/>
            <a:r>
              <a:rPr lang="en-US" sz="3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180000"/>
            <a:ext cx="6400000" cy="495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[1] NCRB "Crime in India 2023":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65,893 Cases (71.2% Document Forgery Rate) – ncrb.gov.in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[2] DoT Sanchar Saathi &amp; ASTR: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67.2 Lakh Fraudulent Ghost SIM Cards Blocked – sancharsaathi.gov.in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[3] Dr. Neal Krawetz (Black Hat):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Digital Image Error Level Analysis (ELA) Forensic Standards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[4] UIDAI Statutory Specs: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Verhoeff Dihedral Group D5 Checksum Algorithm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[5] Bharatiya Sakshya Adhiniyam 2023: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Section 63 Evidence Admissibility (replacing Sec 65B)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[6] NIST FRVT &amp; Interpol (2023):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Face Morphing Attack Detection Standards in Border E-Gates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[7] DPDP Act 2023 (Section 8):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Statutory Mandate: Zero Citizen ID Retention in Memory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[8] Live Vercel Production: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https://satya-id-screening.vercel.app</a:t>
            </a:r>
          </a:p>
          <a:p>
            <a:pPr marL="550000" indent="-200000" algn="l">
              <a:lnSpc>
                <a:spcPct val="118000"/>
              </a:lnSpc>
              <a:spcBef>
                <a:spcPts val="38"/>
              </a:spcBef>
              <a:spcAft>
                <a:spcPts val="18"/>
              </a:spcAft>
              <a:buFont typeface="Arial" pitchFamily="34" charset="0"/>
              <a:buChar char="–"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[9] GitHub Open Source Repo: </a:t>
            </a:r>
            <a:r>
              <a:rPr lang="en-US" sz="12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https://github.com/Sachin7-kumar/satya-id-screening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00" b="1" dirty="0">
                <a:solidFill>
                  <a:srgbClr val="0070C0"/>
                </a:solidFill>
                <a:latin typeface="Arial"/>
                <a:cs typeface="Arial"/>
              </a:rPr>
              <a:t>Team SATYA-ID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005" name="Statutory &amp; Regulatory Alignment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7150000" y="1750000"/>
            <a:ext cx="4600000" cy="3680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 bwMode="auto">
          <a:xfrm>
            <a:off x="1750000" y="200000"/>
            <a:ext cx="7900000" cy="850000"/>
          </a:xfrm>
          <a:prstGeom prst="rect">
            <a:avLst/>
          </a:prstGeom>
          <a:noFill/>
        </p:spPr>
        <p:txBody>
          <a:bodyPr anchor="ctr" wrap="square">
            <a:spAutoFit/>
          </a:bodyPr>
          <a:lstStyle/>
          <a:p>
            <a:pPr algn="ctr"/>
            <a:r>
              <a:rPr lang="en-US" sz="3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PROTOTYPE: LIVE SYSTEM ARCHITECTURE &amp; HUD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180000"/>
            <a:ext cx="6400000" cy="495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Operational Software Deployment &amp; Live Links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Live Production URL: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https://satya-id-screening.vercel.app (Status: 200 OK | SSL Secure)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Open Source Codebase: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https://github.com/Sachin7-kumar/satya-id-screening (Full Stack)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Live Serverless APIs: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/api/scan | /api/threat-intel | /api/system-status | /api/generate-cert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Interactive Prototype Modules &amp; Forensic HUD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Multi-Spectral ELA Visualizer: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Real-time Q=92% differencing with dynamic 10x–45x delta gain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3D Strata Exploder: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Interactive separation of surface substrate, ink &amp; digital overlays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Algorithmic Invariants Engine: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Verhoeff D5, PAN regex, and MRZ 7-3-1 checks (&lt;5ms)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Gemini Multimodal AI Copilot: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Contextual semantic anomaly reasoning via Gemini Flash</a:t>
            </a:r>
          </a:p>
          <a:p>
            <a:pPr marL="342900" indent="-342900" algn="l">
              <a:lnSpc>
                <a:spcPct val="120000"/>
              </a:lnSpc>
              <a:spcBef>
                <a:spcPts val="140"/>
              </a:spcBef>
              <a:spcAft>
                <a:spcPts val="45"/>
              </a:spcAft>
              <a:buFont typeface="Arial" pitchFamily="34" charset="0"/>
              <a:buChar char="•"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cs typeface="Arial" pitchFamily="34" charset="0"/>
              </a:rPr>
              <a:t>Section 63 (BSA 2023) Automated Court Evidence Certificate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Cryptographic PDF Evidence: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Instant legal export with SHA-256 seal &amp; hardware telemetry</a:t>
            </a:r>
          </a:p>
          <a:p>
            <a:pPr marL="550000" indent="-200000" algn="l">
              <a:lnSpc>
                <a:spcPct val="118000"/>
              </a:lnSpc>
              <a:spcBef>
                <a:spcPts val="55"/>
              </a:spcBef>
              <a:spcAft>
                <a:spcPts val="35"/>
              </a:spcAft>
              <a:buFont typeface="Arial" pitchFamily="34" charset="0"/>
              <a:buChar char="–"/>
            </a:pPr>
            <a:r>
              <a:rPr lang="en-US" sz="1300" b="1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Validated Edge Benchmarks: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cs typeface="Arial" pitchFamily="34" charset="0"/>
              </a:rPr>
              <a:t>18–34ms Latency | 1,620 Docs/Min | &lt;0.18% FPR | 100% Offline Edge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00" b="1" dirty="0">
                <a:solidFill>
                  <a:srgbClr val="0070C0"/>
                </a:solidFill>
                <a:latin typeface="Arial"/>
                <a:cs typeface="Arial"/>
              </a:rPr>
              <a:t>Team SATYA-ID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004" name="Feasibility &amp; Performance Benchmarks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7150000" y="1750000"/>
            <a:ext cx="4600000" cy="3680000"/>
          </a:xfrm>
          <a:prstGeom prst="rect">
            <a:avLst/>
          </a:prstGeom>
          <a:noFill/>
        </p:spPr>
      </p:pic>
      <p:pic>
        <p:nvPicPr>
          <p:cNvPr id="5006" name="Operational Prototype HUD"/>
          <p:cNvPicPr>
            <a:picLocks noChangeAspect="1" noChangeArrowheads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7150000" y="1750000"/>
            <a:ext cx="4600000" cy="3680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\theme\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