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Respected Judges, we represent Team [Team Name]. We are presenting our solution for the Ministry of Home Affairs on the problem statement: AI-Based Fake Identity &amp; Document Screening System. Today, we introduce SATYA-ID, an explainable, multi-layer forensic screening platform built specifically for Indian identity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flaw in identity verification today is that OCR only reads text, but cannot see forgery. If someone photoshops a birth year or swaps a portrait, standard systems pass the document. Current systems verify data existence, not document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demonstrate that this is a national security crisis. The Department of Telecommunications disconnected over 67 lakh fraudulent SIMs. Financial institutions suffered ₹1,400+ Crores in synthetic identity losses. And international border studies prove e-gates fail on morphed faces up to 74%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commercial tools focus on user onboarding speed, not fraud detection. Classical ELA falls apart when images are forwarded over WhatsApp, and deep learning models act as black boxes that cannot be used as legal evidence in Indian courts.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technical sweet spot. We identified the five exact loopholes criminal syndicates exploit today: AI inpainting, font metrology discrepancies, phishing QR codes, mathematical checksum failures, and legal inadmissibility in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SATYA-ID works like an automated digital forensics lab. Instead of relying on a single test, it runs five orthogonal checks simultaneously: mathematical checksums, compression physics, font micro-typography, biometric face morphing, and cryptographic QR signatures.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document enters SATYA-ID, it is immediately assigned an immutable SHA-256 hash. The image is evaluated concurrently across all five engines, generating a weighted Trust Score, visual anomaly bounding boxes, and an automated Section 65B digital evidence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matrix shows why our solution is uniquely suited for the Ministry of Home Affairs. While existing tools only check string lengths and cloud models require heavy GPUs and cloud uploads, SATYA-ID combines algorithmic certainty, spatial font metrology, and edge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is built for high speed, reliability, and privacy. By executing critical forensic checks directly on the edge using HTML5 Canvas, WebAssembly, and optimized algorithmic engines, we achieve sub-second latency while guaranteeing citizen privacy under the DPDP Act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is useless in policing if it cannot stand up in court. SATYA-ID is intentionally designed around the new criminal laws—specifically the Bharatiya Sakshya Adhiniyam 2023. Every scan outputs a tamper-proof Section 65B certificate with exact SHA-256 hashes and coordinate bounding boxes that public prosecutors can directly submit in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benchmarked SATYA-ID against three real-world police cases: the Mewat SIM box syndicates, international airport e-gate passport morphing, and synthetic identity banking loan fraud. In all three cases, SATYA-ID triggered immediate multi-vector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SATYA-ID transforms identity verification from passive text-reading into active, multi-layered forensic defense. We would now love to take you through our live prototype, test real sample documents, and show you the real-time ELA heatmap and legal certificate generator.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F9933"/>
          </a:solidFill>
          <a:ln/>
        </p:spPr>
      </p:sp>
      <p:sp>
        <p:nvSpPr>
          <p:cNvPr id="3" name="Shape 1"/>
          <p:cNvSpPr/>
          <p:nvPr/>
        </p:nvSpPr>
        <p:spPr>
          <a:xfrm>
            <a:off x="4389120" y="1097280"/>
            <a:ext cx="3383280" cy="365760"/>
          </a:xfrm>
          <a:prstGeom prst="roundRect">
            <a:avLst>
              <a:gd name="adj" fmla="val 25000"/>
            </a:avLst>
          </a:prstGeom>
          <a:solidFill>
            <a:srgbClr val="131B2E"/>
          </a:solidFill>
          <a:ln w="19050">
            <a:solidFill>
              <a:srgbClr val="FF9933"/>
            </a:solidFill>
            <a:prstDash val="solid"/>
          </a:ln>
        </p:spPr>
      </p:sp>
      <p:sp>
        <p:nvSpPr>
          <p:cNvPr id="4" name="Text 2"/>
          <p:cNvSpPr/>
          <p:nvPr/>
        </p:nvSpPr>
        <p:spPr>
          <a:xfrm>
            <a:off x="4389120" y="1097280"/>
            <a:ext cx="3383280" cy="365760"/>
          </a:xfrm>
          <a:prstGeom prst="rect">
            <a:avLst/>
          </a:prstGeom>
          <a:noFill/>
          <a:ln/>
        </p:spPr>
        <p:txBody>
          <a:bodyPr wrap="square" rtlCol="0" anchor="ctr"/>
          <a:lstStyle/>
          <a:p>
            <a:pPr algn="ctr" indent="0" marL="0">
              <a:buNone/>
            </a:pPr>
            <a:r>
              <a:rPr lang="en-US" sz="1100" b="1" dirty="0">
                <a:solidFill>
                  <a:srgbClr val="FF9933"/>
                </a:solidFill>
                <a:latin typeface="Calibri" pitchFamily="34" charset="0"/>
                <a:ea typeface="Calibri" pitchFamily="34" charset="-122"/>
                <a:cs typeface="Calibri" pitchFamily="34" charset="-120"/>
              </a:rPr>
              <a:t>🇮🇳 MINISTRY OF HOME AFFAIRS (MHA)</a:t>
            </a:r>
            <a:endParaRPr lang="en-US" sz="1100" dirty="0"/>
          </a:p>
        </p:txBody>
      </p:sp>
      <p:sp>
        <p:nvSpPr>
          <p:cNvPr id="5" name="Text 3"/>
          <p:cNvSpPr/>
          <p:nvPr/>
        </p:nvSpPr>
        <p:spPr>
          <a:xfrm>
            <a:off x="731520" y="1645920"/>
            <a:ext cx="10698480" cy="914400"/>
          </a:xfrm>
          <a:prstGeom prst="rect">
            <a:avLst/>
          </a:prstGeom>
          <a:noFill/>
          <a:ln/>
        </p:spPr>
        <p:txBody>
          <a:bodyPr wrap="square" rtlCol="0" anchor="ctr"/>
          <a:lstStyle/>
          <a:p>
            <a:pPr algn="ctr" indent="0" marL="0">
              <a:buNone/>
            </a:pPr>
            <a:r>
              <a:rPr lang="en-US" sz="4400" b="1" dirty="0">
                <a:solidFill>
                  <a:srgbClr val="00F0FF"/>
                </a:solidFill>
                <a:latin typeface="Arial Black" pitchFamily="34" charset="0"/>
                <a:ea typeface="Arial Black" pitchFamily="34" charset="-122"/>
                <a:cs typeface="Arial Black" pitchFamily="34" charset="-120"/>
              </a:rPr>
              <a:t>SATYA-ID</a:t>
            </a:r>
            <a:endParaRPr lang="en-US" sz="4400" dirty="0"/>
          </a:p>
        </p:txBody>
      </p:sp>
      <p:sp>
        <p:nvSpPr>
          <p:cNvPr id="6" name="Text 4"/>
          <p:cNvSpPr/>
          <p:nvPr/>
        </p:nvSpPr>
        <p:spPr>
          <a:xfrm>
            <a:off x="731520" y="2560320"/>
            <a:ext cx="10698480" cy="41148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Scalable Automated Tamper-Yield Analysis &amp; Identity Screening System</a:t>
            </a:r>
            <a:endParaRPr lang="en-US" sz="1800" dirty="0"/>
          </a:p>
        </p:txBody>
      </p:sp>
      <p:sp>
        <p:nvSpPr>
          <p:cNvPr id="7" name="Text 5"/>
          <p:cNvSpPr/>
          <p:nvPr/>
        </p:nvSpPr>
        <p:spPr>
          <a:xfrm>
            <a:off x="731520" y="3017520"/>
            <a:ext cx="10698480" cy="320040"/>
          </a:xfrm>
          <a:prstGeom prst="rect">
            <a:avLst/>
          </a:prstGeom>
          <a:noFill/>
          <a:ln/>
        </p:spPr>
        <p:txBody>
          <a:bodyPr wrap="square"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Smart India Hackathon (SIH) | Problem Statement: AI-Based Fake Identity &amp; Document Screening System</a:t>
            </a:r>
            <a:endParaRPr lang="en-US" sz="1300" dirty="0"/>
          </a:p>
        </p:txBody>
      </p:sp>
      <p:sp>
        <p:nvSpPr>
          <p:cNvPr id="8" name="Shape 6"/>
          <p:cNvSpPr/>
          <p:nvPr/>
        </p:nvSpPr>
        <p:spPr>
          <a:xfrm>
            <a:off x="731520" y="3840480"/>
            <a:ext cx="3291840" cy="1280160"/>
          </a:xfrm>
          <a:prstGeom prst="roundRect">
            <a:avLst>
              <a:gd name="adj" fmla="val 7143"/>
            </a:avLst>
          </a:prstGeom>
          <a:solidFill>
            <a:srgbClr val="131B2E"/>
          </a:solidFill>
          <a:ln w="12700">
            <a:solidFill>
              <a:srgbClr val="1E2E4A"/>
            </a:solidFill>
            <a:prstDash val="solid"/>
          </a:ln>
        </p:spPr>
      </p:sp>
      <p:sp>
        <p:nvSpPr>
          <p:cNvPr id="9" name="Text 7"/>
          <p:cNvSpPr/>
          <p:nvPr/>
        </p:nvSpPr>
        <p:spPr>
          <a:xfrm>
            <a:off x="914400" y="3977640"/>
            <a:ext cx="2926080" cy="228600"/>
          </a:xfrm>
          <a:prstGeom prst="rect">
            <a:avLst/>
          </a:prstGeom>
          <a:noFill/>
          <a:ln/>
        </p:spPr>
        <p:txBody>
          <a:bodyPr wrap="square" rtlCol="0" anchor="ctr"/>
          <a:lstStyle/>
          <a:p>
            <a:pPr indent="0" marL="0">
              <a:buNone/>
            </a:pPr>
            <a:r>
              <a:rPr lang="en-US" sz="900" b="1" dirty="0">
                <a:solidFill>
                  <a:srgbClr val="00F0FF"/>
                </a:solidFill>
                <a:latin typeface="Calibri" pitchFamily="34" charset="0"/>
                <a:ea typeface="Calibri" pitchFamily="34" charset="-122"/>
                <a:cs typeface="Calibri" pitchFamily="34" charset="-120"/>
              </a:rPr>
              <a:t>DOMAIN BUCKET</a:t>
            </a:r>
            <a:endParaRPr lang="en-US" sz="900" dirty="0"/>
          </a:p>
        </p:txBody>
      </p:sp>
      <p:sp>
        <p:nvSpPr>
          <p:cNvPr id="10" name="Text 8"/>
          <p:cNvSpPr/>
          <p:nvPr/>
        </p:nvSpPr>
        <p:spPr>
          <a:xfrm>
            <a:off x="914400" y="4251960"/>
            <a:ext cx="292608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Software / Homeland Security &amp; Cyber Defense</a:t>
            </a:r>
            <a:endParaRPr lang="en-US" sz="1200" dirty="0"/>
          </a:p>
        </p:txBody>
      </p:sp>
      <p:sp>
        <p:nvSpPr>
          <p:cNvPr id="11" name="Shape 9"/>
          <p:cNvSpPr/>
          <p:nvPr/>
        </p:nvSpPr>
        <p:spPr>
          <a:xfrm>
            <a:off x="4434840" y="3840480"/>
            <a:ext cx="3291840" cy="1280160"/>
          </a:xfrm>
          <a:prstGeom prst="roundRect">
            <a:avLst>
              <a:gd name="adj" fmla="val 7143"/>
            </a:avLst>
          </a:prstGeom>
          <a:solidFill>
            <a:srgbClr val="131B2E"/>
          </a:solidFill>
          <a:ln w="12700">
            <a:solidFill>
              <a:srgbClr val="1E2E4A"/>
            </a:solidFill>
            <a:prstDash val="solid"/>
          </a:ln>
        </p:spPr>
      </p:sp>
      <p:sp>
        <p:nvSpPr>
          <p:cNvPr id="12" name="Text 10"/>
          <p:cNvSpPr/>
          <p:nvPr/>
        </p:nvSpPr>
        <p:spPr>
          <a:xfrm>
            <a:off x="4617720" y="3977640"/>
            <a:ext cx="2926080" cy="228600"/>
          </a:xfrm>
          <a:prstGeom prst="rect">
            <a:avLst/>
          </a:prstGeom>
          <a:noFill/>
          <a:ln/>
        </p:spPr>
        <p:txBody>
          <a:bodyPr wrap="square" rtlCol="0" anchor="ctr"/>
          <a:lstStyle/>
          <a:p>
            <a:pPr indent="0" marL="0">
              <a:buNone/>
            </a:pPr>
            <a:r>
              <a:rPr lang="en-US" sz="900" b="1" dirty="0">
                <a:solidFill>
                  <a:srgbClr val="00F0FF"/>
                </a:solidFill>
                <a:latin typeface="Calibri" pitchFamily="34" charset="0"/>
                <a:ea typeface="Calibri" pitchFamily="34" charset="-122"/>
                <a:cs typeface="Calibri" pitchFamily="34" charset="-120"/>
              </a:rPr>
              <a:t>TEAM NAME</a:t>
            </a:r>
            <a:endParaRPr lang="en-US" sz="900" dirty="0"/>
          </a:p>
        </p:txBody>
      </p:sp>
      <p:sp>
        <p:nvSpPr>
          <p:cNvPr id="13" name="Text 11"/>
          <p:cNvSpPr/>
          <p:nvPr/>
        </p:nvSpPr>
        <p:spPr>
          <a:xfrm>
            <a:off x="4617720" y="4251960"/>
            <a:ext cx="292608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Team Name]</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Team Leader: [Leader Name]</a:t>
            </a:r>
            <a:endParaRPr lang="en-US" sz="1200" dirty="0"/>
          </a:p>
        </p:txBody>
      </p:sp>
      <p:sp>
        <p:nvSpPr>
          <p:cNvPr id="14" name="Shape 12"/>
          <p:cNvSpPr/>
          <p:nvPr/>
        </p:nvSpPr>
        <p:spPr>
          <a:xfrm>
            <a:off x="8138160" y="3840480"/>
            <a:ext cx="3291840" cy="1280160"/>
          </a:xfrm>
          <a:prstGeom prst="roundRect">
            <a:avLst>
              <a:gd name="adj" fmla="val 7143"/>
            </a:avLst>
          </a:prstGeom>
          <a:solidFill>
            <a:srgbClr val="131B2E"/>
          </a:solidFill>
          <a:ln w="12700">
            <a:solidFill>
              <a:srgbClr val="1E2E4A"/>
            </a:solidFill>
            <a:prstDash val="solid"/>
          </a:ln>
        </p:spPr>
      </p:sp>
      <p:sp>
        <p:nvSpPr>
          <p:cNvPr id="15" name="Text 13"/>
          <p:cNvSpPr/>
          <p:nvPr/>
        </p:nvSpPr>
        <p:spPr>
          <a:xfrm>
            <a:off x="8321040" y="3977640"/>
            <a:ext cx="2926080" cy="228600"/>
          </a:xfrm>
          <a:prstGeom prst="rect">
            <a:avLst/>
          </a:prstGeom>
          <a:noFill/>
          <a:ln/>
        </p:spPr>
        <p:txBody>
          <a:bodyPr wrap="square" rtlCol="0" anchor="ctr"/>
          <a:lstStyle/>
          <a:p>
            <a:pPr indent="0" marL="0">
              <a:buNone/>
            </a:pPr>
            <a:r>
              <a:rPr lang="en-US" sz="900" b="1" dirty="0">
                <a:solidFill>
                  <a:srgbClr val="00F0FF"/>
                </a:solidFill>
                <a:latin typeface="Calibri" pitchFamily="34" charset="0"/>
                <a:ea typeface="Calibri" pitchFamily="34" charset="-122"/>
                <a:cs typeface="Calibri" pitchFamily="34" charset="-120"/>
              </a:rPr>
              <a:t>COLLEGE / INSTITUTE</a:t>
            </a:r>
            <a:endParaRPr lang="en-US" sz="900" dirty="0"/>
          </a:p>
        </p:txBody>
      </p:sp>
      <p:sp>
        <p:nvSpPr>
          <p:cNvPr id="16" name="Text 14"/>
          <p:cNvSpPr/>
          <p:nvPr/>
        </p:nvSpPr>
        <p:spPr>
          <a:xfrm>
            <a:off x="8321040" y="4251960"/>
            <a:ext cx="292608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College Name &amp; Code]</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Batch 2024-2028</a:t>
            </a:r>
            <a:endParaRPr lang="en-US" sz="1200" dirty="0"/>
          </a:p>
        </p:txBody>
      </p:sp>
      <p:sp>
        <p:nvSpPr>
          <p:cNvPr id="17" name="Text 15"/>
          <p:cNvSpPr/>
          <p:nvPr/>
        </p:nvSpPr>
        <p:spPr>
          <a:xfrm>
            <a:off x="731520" y="5669280"/>
            <a:ext cx="10698480" cy="365760"/>
          </a:xfrm>
          <a:prstGeom prst="rect">
            <a:avLst/>
          </a:prstGeom>
          <a:noFill/>
          <a:ln/>
        </p:spPr>
        <p:txBody>
          <a:bodyPr wrap="square"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Sub-second multi-tier forensic inspection stopping synthetic IDs, diffusion inpainting &amp; biometric morphing.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PROBLEM DEFINITION</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Menace: Real-World Threat Landscape &amp; Core Vulnerability</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371600"/>
            <a:ext cx="5120640" cy="4572000"/>
          </a:xfrm>
          <a:prstGeom prst="roundRect">
            <a:avLst>
              <a:gd name="adj" fmla="val 2000"/>
            </a:avLst>
          </a:prstGeom>
          <a:solidFill>
            <a:srgbClr val="131B2E"/>
          </a:solidFill>
          <a:ln w="12700">
            <a:solidFill>
              <a:srgbClr val="1E2E4A"/>
            </a:solidFill>
            <a:prstDash val="solid"/>
          </a:ln>
        </p:spPr>
      </p:sp>
      <p:sp>
        <p:nvSpPr>
          <p:cNvPr id="9" name="Text 7"/>
          <p:cNvSpPr/>
          <p:nvPr/>
        </p:nvSpPr>
        <p:spPr>
          <a:xfrm>
            <a:off x="1005840" y="1554480"/>
            <a:ext cx="4572000" cy="320040"/>
          </a:xfrm>
          <a:prstGeom prst="rect">
            <a:avLst/>
          </a:prstGeom>
          <a:noFill/>
          <a:ln/>
        </p:spPr>
        <p:txBody>
          <a:bodyPr wrap="square" rtlCol="0" anchor="ctr"/>
          <a:lstStyle/>
          <a:p>
            <a:pPr indent="0" marL="0">
              <a:buNone/>
            </a:pPr>
            <a:r>
              <a:rPr lang="en-US" sz="1400" b="1" dirty="0">
                <a:solidFill>
                  <a:srgbClr val="00F0FF"/>
                </a:solidFill>
                <a:latin typeface="Calibri" pitchFamily="34" charset="0"/>
                <a:ea typeface="Calibri" pitchFamily="34" charset="-122"/>
                <a:cs typeface="Calibri" pitchFamily="34" charset="-120"/>
              </a:rPr>
              <a:t>The Fatal Flaw in Modern Identity Screening</a:t>
            </a:r>
            <a:endParaRPr lang="en-US" sz="1400" dirty="0"/>
          </a:p>
        </p:txBody>
      </p:sp>
      <p:sp>
        <p:nvSpPr>
          <p:cNvPr id="10" name="Text 8"/>
          <p:cNvSpPr/>
          <p:nvPr/>
        </p:nvSpPr>
        <p:spPr>
          <a:xfrm>
            <a:off x="1005840" y="2011680"/>
            <a:ext cx="4572000" cy="3749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Current Verification Blindspot: </a:t>
            </a:r>
            <a:pPr indent="0" marL="0">
              <a:buNone/>
            </a:pPr>
            <a:r>
              <a:rPr lang="en-US" sz="1100" dirty="0">
                <a:solidFill>
                  <a:srgbClr val="94A3B8"/>
                </a:solidFill>
                <a:latin typeface="Calibri" pitchFamily="34" charset="0"/>
                <a:ea typeface="Calibri" pitchFamily="34" charset="-122"/>
                <a:cs typeface="Calibri" pitchFamily="34" charset="-120"/>
              </a:rPr>
              <a:t>99% of KYC verifications (Fintech, Telecom, Law Enforcement) only perform Optical Character Recognition (OCR) and check if the name/DOB exists in a central database.
</a:t>
            </a:r>
            <a:pPr indent="0" marL="0">
              <a:buNone/>
            </a:pPr>
            <a:r>
              <a:rPr lang="en-US" sz="1100" b="1" dirty="0">
                <a:solidFill>
                  <a:srgbClr val="FFFFFF"/>
                </a:solidFill>
                <a:latin typeface="Calibri" pitchFamily="34" charset="0"/>
                <a:ea typeface="Calibri" pitchFamily="34" charset="-122"/>
                <a:cs typeface="Calibri" pitchFamily="34" charset="-120"/>
              </a:rPr>
              <a:t>• Document Integrity Ignored: </a:t>
            </a:r>
            <a:pPr indent="0" marL="0">
              <a:buNone/>
            </a:pPr>
            <a:r>
              <a:rPr lang="en-US" sz="1100" dirty="0">
                <a:solidFill>
                  <a:srgbClr val="94A3B8"/>
                </a:solidFill>
                <a:latin typeface="Calibri" pitchFamily="34" charset="0"/>
                <a:ea typeface="Calibri" pitchFamily="34" charset="-122"/>
                <a:cs typeface="Calibri" pitchFamily="34" charset="-120"/>
              </a:rPr>
              <a:t>If a fraudster downloads an Aadhaar or PAN card and alters the year of birth from 1982 to 2001 or swaps the photo using Photoshop/Generative AI, standard OCR extracts the forged text and confirms the document as valid!
</a:t>
            </a:r>
            <a:pPr indent="0" marL="0">
              <a:buNone/>
            </a:pPr>
            <a:r>
              <a:rPr lang="en-US" sz="1100" b="1" dirty="0">
                <a:solidFill>
                  <a:srgbClr val="EF4444"/>
                </a:solidFill>
                <a:latin typeface="Calibri" pitchFamily="34" charset="0"/>
                <a:ea typeface="Calibri" pitchFamily="34" charset="-122"/>
                <a:cs typeface="Calibri" pitchFamily="34" charset="-120"/>
              </a:rPr>
              <a:t>• Core Vulnerability: </a:t>
            </a:r>
            <a:pPr indent="0" marL="0">
              <a:buNone/>
            </a:pPr>
            <a:r>
              <a:rPr lang="en-US" sz="1100" b="1" dirty="0">
                <a:solidFill>
                  <a:srgbClr val="FFFFFF"/>
                </a:solidFill>
                <a:latin typeface="Calibri" pitchFamily="34" charset="0"/>
                <a:ea typeface="Calibri" pitchFamily="34" charset="-122"/>
                <a:cs typeface="Calibri" pitchFamily="34" charset="-120"/>
              </a:rPr>
              <a:t>Current systems verify data existence, NOT document authenticity or pixel integrity.</a:t>
            </a:r>
            <a:endParaRPr lang="en-US" sz="1100" dirty="0"/>
          </a:p>
        </p:txBody>
      </p:sp>
      <p:sp>
        <p:nvSpPr>
          <p:cNvPr id="11" name="Shape 9"/>
          <p:cNvSpPr/>
          <p:nvPr/>
        </p:nvSpPr>
        <p:spPr>
          <a:xfrm>
            <a:off x="6217920" y="1371600"/>
            <a:ext cx="5212080" cy="4572000"/>
          </a:xfrm>
          <a:prstGeom prst="roundRect">
            <a:avLst>
              <a:gd name="adj" fmla="val 2000"/>
            </a:avLst>
          </a:prstGeom>
          <a:solidFill>
            <a:srgbClr val="131B2E"/>
          </a:solidFill>
          <a:ln w="12700">
            <a:solidFill>
              <a:srgbClr val="1E2E4A"/>
            </a:solidFill>
            <a:prstDash val="solid"/>
          </a:ln>
        </p:spPr>
      </p:sp>
      <p:sp>
        <p:nvSpPr>
          <p:cNvPr id="12" name="Text 10"/>
          <p:cNvSpPr/>
          <p:nvPr/>
        </p:nvSpPr>
        <p:spPr>
          <a:xfrm>
            <a:off x="6492240" y="1554480"/>
            <a:ext cx="4663440" cy="32004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4 Primary Criminal Attack Vectors</a:t>
            </a:r>
            <a:endParaRPr lang="en-US" sz="1400" dirty="0"/>
          </a:p>
        </p:txBody>
      </p:sp>
      <p:sp>
        <p:nvSpPr>
          <p:cNvPr id="13" name="Text 11"/>
          <p:cNvSpPr/>
          <p:nvPr/>
        </p:nvSpPr>
        <p:spPr>
          <a:xfrm>
            <a:off x="6492240" y="201168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Ghost SIM Card Provisioning</a:t>
            </a:r>
            <a:endParaRPr lang="en-US" sz="1100" dirty="0"/>
          </a:p>
        </p:txBody>
      </p:sp>
      <p:sp>
        <p:nvSpPr>
          <p:cNvPr id="14" name="Text 12"/>
          <p:cNvSpPr/>
          <p:nvPr/>
        </p:nvSpPr>
        <p:spPr>
          <a:xfrm>
            <a:off x="6492240" y="2240280"/>
            <a:ext cx="4663440" cy="6400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Corrupt telecom PoS agents activate untraceable SIM cards using modified PVC Aadhaar templates to fuel cyber extortion hubs (Jamtara, Mewat).</a:t>
            </a:r>
            <a:endParaRPr lang="en-US" sz="1000" dirty="0"/>
          </a:p>
        </p:txBody>
      </p:sp>
      <p:sp>
        <p:nvSpPr>
          <p:cNvPr id="15" name="Text 13"/>
          <p:cNvSpPr/>
          <p:nvPr/>
        </p:nvSpPr>
        <p:spPr>
          <a:xfrm>
            <a:off x="6492240" y="297180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Synthetic Identity Loan Scams</a:t>
            </a:r>
            <a:endParaRPr lang="en-US" sz="1100" dirty="0"/>
          </a:p>
        </p:txBody>
      </p:sp>
      <p:sp>
        <p:nvSpPr>
          <p:cNvPr id="16" name="Text 14"/>
          <p:cNvSpPr/>
          <p:nvPr/>
        </p:nvSpPr>
        <p:spPr>
          <a:xfrm>
            <a:off x="6492240" y="3200400"/>
            <a:ext cx="4663440" cy="6400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Mixing real PAN numbers with fabricated Aadhaar details to siphon digital personal micro-loans and create synthetic default profiles.</a:t>
            </a:r>
            <a:endParaRPr lang="en-US" sz="1000" dirty="0"/>
          </a:p>
        </p:txBody>
      </p:sp>
      <p:sp>
        <p:nvSpPr>
          <p:cNvPr id="17" name="Text 15"/>
          <p:cNvSpPr/>
          <p:nvPr/>
        </p:nvSpPr>
        <p:spPr>
          <a:xfrm>
            <a:off x="6492240" y="393192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Airport Immigration e-Gate Evasion</a:t>
            </a:r>
            <a:endParaRPr lang="en-US" sz="1100" dirty="0"/>
          </a:p>
        </p:txBody>
      </p:sp>
      <p:sp>
        <p:nvSpPr>
          <p:cNvPr id="18" name="Text 16"/>
          <p:cNvSpPr/>
          <p:nvPr/>
        </p:nvSpPr>
        <p:spPr>
          <a:xfrm>
            <a:off x="6492240" y="4160520"/>
            <a:ext cx="4663440" cy="6400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High-frequency biometric facial morphing blends two identities, allowing fugitives to pass automated airport e-gates using issued passports.</a:t>
            </a:r>
            <a:endParaRPr lang="en-US" sz="1000" dirty="0"/>
          </a:p>
        </p:txBody>
      </p:sp>
      <p:sp>
        <p:nvSpPr>
          <p:cNvPr id="19" name="Text 17"/>
          <p:cNvSpPr/>
          <p:nvPr/>
        </p:nvSpPr>
        <p:spPr>
          <a:xfrm>
            <a:off x="6492240" y="489204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Phishing QR Code Counterfeit Cards</a:t>
            </a:r>
            <a:endParaRPr lang="en-US" sz="1100" dirty="0"/>
          </a:p>
        </p:txBody>
      </p:sp>
      <p:sp>
        <p:nvSpPr>
          <p:cNvPr id="20" name="Text 18"/>
          <p:cNvSpPr/>
          <p:nvPr/>
        </p:nvSpPr>
        <p:spPr>
          <a:xfrm>
            <a:off x="6492240" y="5120640"/>
            <a:ext cx="4663440" cy="6400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Fake PVC cards embedding QR codes that redirect verifying police officers to cloned lookalike verification portals.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DATA &amp; GROUND REALITY</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Hard Numbers: Why This Problem is a National Priority</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463040"/>
            <a:ext cx="5212080" cy="1920240"/>
          </a:xfrm>
          <a:prstGeom prst="roundRect">
            <a:avLst>
              <a:gd name="adj" fmla="val 4762"/>
            </a:avLst>
          </a:prstGeom>
          <a:solidFill>
            <a:srgbClr val="131B2E"/>
          </a:solidFill>
          <a:ln w="12700">
            <a:solidFill>
              <a:srgbClr val="1E2E4A"/>
            </a:solidFill>
            <a:prstDash val="solid"/>
          </a:ln>
        </p:spPr>
      </p:sp>
      <p:sp>
        <p:nvSpPr>
          <p:cNvPr id="9" name="Text 7"/>
          <p:cNvSpPr/>
          <p:nvPr/>
        </p:nvSpPr>
        <p:spPr>
          <a:xfrm>
            <a:off x="1097280" y="1645920"/>
            <a:ext cx="4572000" cy="594360"/>
          </a:xfrm>
          <a:prstGeom prst="rect">
            <a:avLst/>
          </a:prstGeom>
          <a:noFill/>
          <a:ln/>
        </p:spPr>
        <p:txBody>
          <a:bodyPr wrap="square" rtlCol="0" anchor="ctr"/>
          <a:lstStyle/>
          <a:p>
            <a:pPr indent="0" marL="0">
              <a:buNone/>
            </a:pPr>
            <a:r>
              <a:rPr lang="en-US" sz="3200" b="1" dirty="0">
                <a:solidFill>
                  <a:srgbClr val="00F0FF"/>
                </a:solidFill>
                <a:latin typeface="Arial Black" pitchFamily="34" charset="0"/>
                <a:ea typeface="Arial Black" pitchFamily="34" charset="-122"/>
                <a:cs typeface="Arial Black" pitchFamily="34" charset="-120"/>
              </a:rPr>
              <a:t>65,893+</a:t>
            </a:r>
            <a:endParaRPr lang="en-US" sz="3200" dirty="0"/>
          </a:p>
        </p:txBody>
      </p:sp>
      <p:sp>
        <p:nvSpPr>
          <p:cNvPr id="10" name="Text 8"/>
          <p:cNvSpPr/>
          <p:nvPr/>
        </p:nvSpPr>
        <p:spPr>
          <a:xfrm>
            <a:off x="1097280" y="2286000"/>
            <a:ext cx="4572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Cybercrime Cases (NCRB 2023)</a:t>
            </a:r>
            <a:endParaRPr lang="en-US" sz="1300" dirty="0"/>
          </a:p>
        </p:txBody>
      </p:sp>
      <p:sp>
        <p:nvSpPr>
          <p:cNvPr id="11" name="Text 9"/>
          <p:cNvSpPr/>
          <p:nvPr/>
        </p:nvSpPr>
        <p:spPr>
          <a:xfrm>
            <a:off x="1097280" y="2651760"/>
            <a:ext cx="4572000" cy="59436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71.2% involved fraud &amp; document forgery (IPC 420/468/471 / BNS 318/336)</a:t>
            </a:r>
            <a:endParaRPr lang="en-US" sz="1050" dirty="0"/>
          </a:p>
        </p:txBody>
      </p:sp>
      <p:sp>
        <p:nvSpPr>
          <p:cNvPr id="12" name="Shape 10"/>
          <p:cNvSpPr/>
          <p:nvPr/>
        </p:nvSpPr>
        <p:spPr>
          <a:xfrm>
            <a:off x="6217920" y="1463040"/>
            <a:ext cx="5212080" cy="1920240"/>
          </a:xfrm>
          <a:prstGeom prst="roundRect">
            <a:avLst>
              <a:gd name="adj" fmla="val 4762"/>
            </a:avLst>
          </a:prstGeom>
          <a:solidFill>
            <a:srgbClr val="131B2E"/>
          </a:solidFill>
          <a:ln w="12700">
            <a:solidFill>
              <a:srgbClr val="1E2E4A"/>
            </a:solidFill>
            <a:prstDash val="solid"/>
          </a:ln>
        </p:spPr>
      </p:sp>
      <p:sp>
        <p:nvSpPr>
          <p:cNvPr id="13" name="Text 11"/>
          <p:cNvSpPr/>
          <p:nvPr/>
        </p:nvSpPr>
        <p:spPr>
          <a:xfrm>
            <a:off x="6583680" y="1645920"/>
            <a:ext cx="4572000" cy="594360"/>
          </a:xfrm>
          <a:prstGeom prst="rect">
            <a:avLst/>
          </a:prstGeom>
          <a:noFill/>
          <a:ln/>
        </p:spPr>
        <p:txBody>
          <a:bodyPr wrap="square" rtlCol="0" anchor="ctr"/>
          <a:lstStyle/>
          <a:p>
            <a:pPr indent="0" marL="0">
              <a:buNone/>
            </a:pPr>
            <a:r>
              <a:rPr lang="en-US" sz="3200" b="1" dirty="0">
                <a:solidFill>
                  <a:srgbClr val="F59E0B"/>
                </a:solidFill>
                <a:latin typeface="Arial Black" pitchFamily="34" charset="0"/>
                <a:ea typeface="Arial Black" pitchFamily="34" charset="-122"/>
                <a:cs typeface="Arial Black" pitchFamily="34" charset="-120"/>
              </a:rPr>
              <a:t>67+ LAKH</a:t>
            </a:r>
            <a:endParaRPr lang="en-US" sz="3200" dirty="0"/>
          </a:p>
        </p:txBody>
      </p:sp>
      <p:sp>
        <p:nvSpPr>
          <p:cNvPr id="14" name="Text 12"/>
          <p:cNvSpPr/>
          <p:nvPr/>
        </p:nvSpPr>
        <p:spPr>
          <a:xfrm>
            <a:off x="6583680" y="2286000"/>
            <a:ext cx="4572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Fraudulent SIMs Disconnected</a:t>
            </a:r>
            <a:endParaRPr lang="en-US" sz="1300" dirty="0"/>
          </a:p>
        </p:txBody>
      </p:sp>
      <p:sp>
        <p:nvSpPr>
          <p:cNvPr id="15" name="Text 13"/>
          <p:cNvSpPr/>
          <p:nvPr/>
        </p:nvSpPr>
        <p:spPr>
          <a:xfrm>
            <a:off x="6583680" y="2651760"/>
            <a:ext cx="4572000" cy="59436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DoT Sanchar Saathi &amp; ASTR facial recognition crackdown nationwide</a:t>
            </a:r>
            <a:endParaRPr lang="en-US" sz="1050" dirty="0"/>
          </a:p>
        </p:txBody>
      </p:sp>
      <p:sp>
        <p:nvSpPr>
          <p:cNvPr id="16" name="Shape 14"/>
          <p:cNvSpPr/>
          <p:nvPr/>
        </p:nvSpPr>
        <p:spPr>
          <a:xfrm>
            <a:off x="731520" y="3566160"/>
            <a:ext cx="5212080" cy="1920240"/>
          </a:xfrm>
          <a:prstGeom prst="roundRect">
            <a:avLst>
              <a:gd name="adj" fmla="val 4762"/>
            </a:avLst>
          </a:prstGeom>
          <a:solidFill>
            <a:srgbClr val="131B2E"/>
          </a:solidFill>
          <a:ln w="12700">
            <a:solidFill>
              <a:srgbClr val="1E2E4A"/>
            </a:solidFill>
            <a:prstDash val="solid"/>
          </a:ln>
        </p:spPr>
      </p:sp>
      <p:sp>
        <p:nvSpPr>
          <p:cNvPr id="17" name="Text 15"/>
          <p:cNvSpPr/>
          <p:nvPr/>
        </p:nvSpPr>
        <p:spPr>
          <a:xfrm>
            <a:off x="1097280" y="3749040"/>
            <a:ext cx="4572000" cy="594360"/>
          </a:xfrm>
          <a:prstGeom prst="rect">
            <a:avLst/>
          </a:prstGeom>
          <a:noFill/>
          <a:ln/>
        </p:spPr>
        <p:txBody>
          <a:bodyPr wrap="square" rtlCol="0" anchor="ctr"/>
          <a:lstStyle/>
          <a:p>
            <a:pPr indent="0" marL="0">
              <a:buNone/>
            </a:pPr>
            <a:r>
              <a:rPr lang="en-US" sz="3200" b="1" dirty="0">
                <a:solidFill>
                  <a:srgbClr val="EF4444"/>
                </a:solidFill>
                <a:latin typeface="Arial Black" pitchFamily="34" charset="0"/>
                <a:ea typeface="Arial Black" pitchFamily="34" charset="-122"/>
                <a:cs typeface="Arial Black" pitchFamily="34" charset="-120"/>
              </a:rPr>
              <a:t>₹1,400+ CR</a:t>
            </a:r>
            <a:endParaRPr lang="en-US" sz="3200" dirty="0"/>
          </a:p>
        </p:txBody>
      </p:sp>
      <p:sp>
        <p:nvSpPr>
          <p:cNvPr id="18" name="Text 16"/>
          <p:cNvSpPr/>
          <p:nvPr/>
        </p:nvSpPr>
        <p:spPr>
          <a:xfrm>
            <a:off x="1097280" y="4389120"/>
            <a:ext cx="4572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Synthetic Loan Fraud Defaults</a:t>
            </a:r>
            <a:endParaRPr lang="en-US" sz="1300" dirty="0"/>
          </a:p>
        </p:txBody>
      </p:sp>
      <p:sp>
        <p:nvSpPr>
          <p:cNvPr id="19" name="Text 17"/>
          <p:cNvSpPr/>
          <p:nvPr/>
        </p:nvSpPr>
        <p:spPr>
          <a:xfrm>
            <a:off x="1097280" y="4754880"/>
            <a:ext cx="4572000" cy="59436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TransUnion CIBIL &amp; RBI Digital Lending Study on synthetic identities</a:t>
            </a:r>
            <a:endParaRPr lang="en-US" sz="1050" dirty="0"/>
          </a:p>
        </p:txBody>
      </p:sp>
      <p:sp>
        <p:nvSpPr>
          <p:cNvPr id="20" name="Shape 18"/>
          <p:cNvSpPr/>
          <p:nvPr/>
        </p:nvSpPr>
        <p:spPr>
          <a:xfrm>
            <a:off x="6217920" y="3566160"/>
            <a:ext cx="5212080" cy="1920240"/>
          </a:xfrm>
          <a:prstGeom prst="roundRect">
            <a:avLst>
              <a:gd name="adj" fmla="val 4762"/>
            </a:avLst>
          </a:prstGeom>
          <a:solidFill>
            <a:srgbClr val="131B2E"/>
          </a:solidFill>
          <a:ln w="12700">
            <a:solidFill>
              <a:srgbClr val="1E2E4A"/>
            </a:solidFill>
            <a:prstDash val="solid"/>
          </a:ln>
        </p:spPr>
      </p:sp>
      <p:sp>
        <p:nvSpPr>
          <p:cNvPr id="21" name="Text 19"/>
          <p:cNvSpPr/>
          <p:nvPr/>
        </p:nvSpPr>
        <p:spPr>
          <a:xfrm>
            <a:off x="6583680" y="3749040"/>
            <a:ext cx="4572000" cy="594360"/>
          </a:xfrm>
          <a:prstGeom prst="rect">
            <a:avLst/>
          </a:prstGeom>
          <a:noFill/>
          <a:ln/>
        </p:spPr>
        <p:txBody>
          <a:bodyPr wrap="square" rtlCol="0" anchor="ctr"/>
          <a:lstStyle/>
          <a:p>
            <a:pPr indent="0" marL="0">
              <a:buNone/>
            </a:pPr>
            <a:r>
              <a:rPr lang="en-US" sz="3200" b="1" dirty="0">
                <a:solidFill>
                  <a:srgbClr val="3B82F6"/>
                </a:solidFill>
                <a:latin typeface="Arial Black" pitchFamily="34" charset="0"/>
                <a:ea typeface="Arial Black" pitchFamily="34" charset="-122"/>
                <a:cs typeface="Arial Black" pitchFamily="34" charset="-120"/>
              </a:rPr>
              <a:t>68% - 74%</a:t>
            </a:r>
            <a:endParaRPr lang="en-US" sz="3200" dirty="0"/>
          </a:p>
        </p:txBody>
      </p:sp>
      <p:sp>
        <p:nvSpPr>
          <p:cNvPr id="22" name="Text 20"/>
          <p:cNvSpPr/>
          <p:nvPr/>
        </p:nvSpPr>
        <p:spPr>
          <a:xfrm>
            <a:off x="6583680" y="4389120"/>
            <a:ext cx="4572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e-Gate Evasion on Morphed Faces</a:t>
            </a:r>
            <a:endParaRPr lang="en-US" sz="1300" dirty="0"/>
          </a:p>
        </p:txBody>
      </p:sp>
      <p:sp>
        <p:nvSpPr>
          <p:cNvPr id="23" name="Text 21"/>
          <p:cNvSpPr/>
          <p:nvPr/>
        </p:nvSpPr>
        <p:spPr>
          <a:xfrm>
            <a:off x="6583680" y="4754880"/>
            <a:ext cx="4572000" cy="59436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NIST FRVT &amp; Interpol border tests: Standard face match fails on morphed IDs</a:t>
            </a:r>
            <a:endParaRPr lang="en-US" sz="1050" dirty="0"/>
          </a:p>
        </p:txBody>
      </p:sp>
      <p:sp>
        <p:nvSpPr>
          <p:cNvPr id="24" name="Text 22"/>
          <p:cNvSpPr/>
          <p:nvPr/>
        </p:nvSpPr>
        <p:spPr>
          <a:xfrm>
            <a:off x="731520" y="5852160"/>
            <a:ext cx="10698480" cy="274320"/>
          </a:xfrm>
          <a:prstGeom prst="rect">
            <a:avLst/>
          </a:prstGeom>
          <a:noFill/>
          <a:ln/>
        </p:spPr>
        <p:txBody>
          <a:bodyPr wrap="square"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Data sources: National Crime Records Bureau (NCRB) Crime in India 2023, Department of Telecommunications (DoT) Sanchar Saathi Portal, TransUnion CIBIL &amp; Interpol Border Research.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PRIOR ART BENCHMARKING</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Literature Review: How Existing Solutions Fall Short</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10698480" cy="4389120"/>
        </p:xfrm>
        <a:graphic>
          <a:graphicData uri="http://schemas.openxmlformats.org/drawingml/2006/table">
            <a:tbl>
              <a:tblPr/>
              <a:tblGrid>
                <a:gridCol w="2674620"/>
                <a:gridCol w="2674620"/>
                <a:gridCol w="2674620"/>
                <a:gridCol w="2674620"/>
              </a:tblGrid>
              <a:tr h="877824">
                <a:tc>
                  <a:txBody>
                    <a:bodyPr/>
                    <a:lstStyle/>
                    <a:p>
                      <a:pPr indent="0" marL="0">
                        <a:buNone/>
                      </a:pPr>
                      <a:r>
                        <a:rPr lang="en-US" sz="1000" b="1" dirty="0">
                          <a:solidFill>
                            <a:srgbClr val="00F0FF"/>
                          </a:solidFill>
                          <a:latin typeface="Calibri" pitchFamily="34" charset="0"/>
                          <a:ea typeface="Calibri" pitchFamily="34" charset="-122"/>
                          <a:cs typeface="Calibri" pitchFamily="34" charset="-120"/>
                        </a:rPr>
                        <a:t>Solution Category</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b="1" dirty="0">
                          <a:solidFill>
                            <a:srgbClr val="00F0FF"/>
                          </a:solidFill>
                          <a:latin typeface="Calibri" pitchFamily="34" charset="0"/>
                          <a:ea typeface="Calibri" pitchFamily="34" charset="-122"/>
                          <a:cs typeface="Calibri" pitchFamily="34" charset="-120"/>
                        </a:rPr>
                        <a:t>Core Mechanism</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b="1" dirty="0">
                          <a:solidFill>
                            <a:srgbClr val="00F0FF"/>
                          </a:solidFill>
                          <a:latin typeface="Calibri" pitchFamily="34" charset="0"/>
                          <a:ea typeface="Calibri" pitchFamily="34" charset="-122"/>
                          <a:cs typeface="Calibri" pitchFamily="34" charset="-120"/>
                        </a:rPr>
                        <a:t>Where It Succeeds</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b="1" dirty="0">
                          <a:solidFill>
                            <a:srgbClr val="00F0FF"/>
                          </a:solidFill>
                          <a:latin typeface="Calibri" pitchFamily="34" charset="0"/>
                          <a:ea typeface="Calibri" pitchFamily="34" charset="-122"/>
                          <a:cs typeface="Calibri" pitchFamily="34" charset="-120"/>
                        </a:rPr>
                        <a:t>Fatal Flaw / Why It Fails</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r>
              <a:tr h="8778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Commercial KYC SDKs</a:t>
                      </a:r>
                      <a:endParaRPr lang="en-US" sz="1000" dirty="0">
                        <a:latin typeface="Calibri" charset="0"/>
                        <a:ea typeface="Calibri" charset="0"/>
                        <a:cs typeface="Calibri" charset="0"/>
                      </a:endParaRPr>
                    </a:p>
                    <a:p>
                      <a:pPr indent="0" marL="0">
                        <a:buNone/>
                      </a:pPr>
                      <a:r>
                        <a:rPr lang="en-US" sz="1000" b="1" dirty="0">
                          <a:solidFill>
                            <a:srgbClr val="FFFFFF"/>
                          </a:solidFill>
                          <a:latin typeface="Calibri" pitchFamily="34" charset="0"/>
                          <a:ea typeface="Calibri" pitchFamily="34" charset="-122"/>
                          <a:cs typeface="Calibri" pitchFamily="34" charset="-120"/>
                        </a:rPr>
                        <a:t>(Veriff, Onfido, HyperVerge)</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Text OCR + Database Lookup + Selfie Face Match</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Fast retail user onboarding</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Forensically Blind: Accepts photoshopped cards if text matches government schema.</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r>
              <a:tr h="8778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Classical OCR</a:t>
                      </a:r>
                      <a:endParaRPr lang="en-US" sz="1000" dirty="0">
                        <a:latin typeface="Calibri" charset="0"/>
                        <a:ea typeface="Calibri" charset="0"/>
                        <a:cs typeface="Calibri" charset="0"/>
                      </a:endParaRPr>
                    </a:p>
                    <a:p>
                      <a:pPr indent="0" marL="0">
                        <a:buNone/>
                      </a:pPr>
                      <a:r>
                        <a:rPr lang="en-US" sz="1000" b="1" dirty="0">
                          <a:solidFill>
                            <a:srgbClr val="FFFFFF"/>
                          </a:solidFill>
                          <a:latin typeface="Calibri" pitchFamily="34" charset="0"/>
                          <a:ea typeface="Calibri" pitchFamily="34" charset="-122"/>
                          <a:cs typeface="Calibri" pitchFamily="34" charset="-120"/>
                        </a:rPr>
                        <a:t>(Tesseract 5, AWS Textract)</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CNN-LSTM token sequence extraction</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High text extraction accuracy</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Zero Security Logic: Completely discards pixel-level noise, font alignment, and compression.</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r>
              <a:tr h="8778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Standard ELA</a:t>
                      </a:r>
                      <a:endParaRPr lang="en-US" sz="1000" dirty="0">
                        <a:latin typeface="Calibri" charset="0"/>
                        <a:ea typeface="Calibri" charset="0"/>
                        <a:cs typeface="Calibri" charset="0"/>
                      </a:endParaRPr>
                    </a:p>
                    <a:p>
                      <a:pPr indent="0" marL="0">
                        <a:buNone/>
                      </a:pPr>
                      <a:r>
                        <a:rPr lang="en-US" sz="1000" b="1" dirty="0">
                          <a:solidFill>
                            <a:srgbClr val="FFFFFF"/>
                          </a:solidFill>
                          <a:latin typeface="Calibri" pitchFamily="34" charset="0"/>
                          <a:ea typeface="Calibri" pitchFamily="34" charset="-122"/>
                          <a:cs typeface="Calibri" pitchFamily="34" charset="-120"/>
                        </a:rPr>
                        <a:t>(Krawetz 2007)</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Fixed-quality JPEG recompression difference</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Finds basic raw camera splices</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Fails on Scans: WhatsApp/Telegram double-compression causes high false alarms or mutes spikes.</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r>
              <a:tr h="8778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Black-Box Deep Learning</a:t>
                      </a:r>
                      <a:endParaRPr lang="en-US" sz="1000" dirty="0">
                        <a:latin typeface="Calibri" charset="0"/>
                        <a:ea typeface="Calibri" charset="0"/>
                        <a:cs typeface="Calibri" charset="0"/>
                      </a:endParaRPr>
                    </a:p>
                    <a:p>
                      <a:pPr indent="0" marL="0">
                        <a:buNone/>
                      </a:pPr>
                      <a:r>
                        <a:rPr lang="en-US" sz="1000" b="1" dirty="0">
                          <a:solidFill>
                            <a:srgbClr val="FFFFFF"/>
                          </a:solidFill>
                          <a:latin typeface="Calibri" pitchFamily="34" charset="0"/>
                          <a:ea typeface="Calibri" pitchFamily="34" charset="-122"/>
                          <a:cs typeface="Calibri" pitchFamily="34" charset="-120"/>
                        </a:rPr>
                        <a:t>(ManTra-Net, TruFor)</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Convolutional neural noise feature maps</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Detects high-level synthetic textures</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Inadmissible in Court: Black-box score without evidence chain violates BSA 2023 / Sec 65B.</a:t>
                      </a:r>
                      <a:endParaRPr lang="en-US" sz="1000" dirty="0">
                        <a:latin typeface="Calibri" charset="0"/>
                        <a:ea typeface="Calibri" charset="0"/>
                        <a:cs typeface="Calibri" charset="0"/>
                      </a:endParaRPr>
                    </a:p>
                  </a:txBody>
                  <a:tcPr marL="137160" marR="137160" marT="91440" marB="91440">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OUR CORE NOVELTY</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5 Critical Unsolved Gaps Cracked by SATYA-ID</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417320"/>
            <a:ext cx="10698480" cy="822960"/>
          </a:xfrm>
          <a:prstGeom prst="roundRect">
            <a:avLst>
              <a:gd name="adj" fmla="val 8889"/>
            </a:avLst>
          </a:prstGeom>
          <a:solidFill>
            <a:srgbClr val="131B2E"/>
          </a:solidFill>
          <a:ln w="12700">
            <a:solidFill>
              <a:srgbClr val="1E2E4A"/>
            </a:solidFill>
            <a:prstDash val="solid"/>
          </a:ln>
        </p:spPr>
      </p:sp>
      <p:sp>
        <p:nvSpPr>
          <p:cNvPr id="9" name="Shape 7"/>
          <p:cNvSpPr/>
          <p:nvPr/>
        </p:nvSpPr>
        <p:spPr>
          <a:xfrm>
            <a:off x="914400" y="1581912"/>
            <a:ext cx="502920" cy="502920"/>
          </a:xfrm>
          <a:prstGeom prst="ellipse">
            <a:avLst/>
          </a:prstGeom>
          <a:solidFill>
            <a:srgbClr val="00F0FF"/>
          </a:solidFill>
          <a:ln w="12700">
            <a:solidFill>
              <a:srgbClr val="00F0FF"/>
            </a:solidFill>
            <a:prstDash val="solid"/>
          </a:ln>
        </p:spPr>
      </p:sp>
      <p:sp>
        <p:nvSpPr>
          <p:cNvPr id="10" name="Text 8"/>
          <p:cNvSpPr/>
          <p:nvPr/>
        </p:nvSpPr>
        <p:spPr>
          <a:xfrm>
            <a:off x="914400" y="1581912"/>
            <a:ext cx="502920" cy="502920"/>
          </a:xfrm>
          <a:prstGeom prst="rect">
            <a:avLst/>
          </a:prstGeom>
          <a:noFill/>
          <a:ln/>
        </p:spPr>
        <p:txBody>
          <a:bodyPr wrap="square" rtlCol="0" anchor="ctr"/>
          <a:lstStyle/>
          <a:p>
            <a:pPr algn="ctr" indent="0" marL="0">
              <a:buNone/>
            </a:pPr>
            <a:r>
              <a:rPr lang="en-US" sz="1400" dirty="0">
                <a:solidFill>
                  <a:srgbClr val="031124"/>
                </a:solidFill>
                <a:latin typeface="Arial Black" pitchFamily="34" charset="0"/>
                <a:ea typeface="Arial Black" pitchFamily="34" charset="-122"/>
                <a:cs typeface="Arial Black" pitchFamily="34" charset="-120"/>
              </a:rPr>
              <a:t>1</a:t>
            </a:r>
            <a:endParaRPr lang="en-US" sz="1400" dirty="0"/>
          </a:p>
        </p:txBody>
      </p:sp>
      <p:sp>
        <p:nvSpPr>
          <p:cNvPr id="11" name="Text 9"/>
          <p:cNvSpPr/>
          <p:nvPr/>
        </p:nvSpPr>
        <p:spPr>
          <a:xfrm>
            <a:off x="1554480" y="1508760"/>
            <a:ext cx="960120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Generative AI Inpainting &amp; Diffusion Erasure</a:t>
            </a:r>
            <a:endParaRPr lang="en-US" sz="1200" dirty="0"/>
          </a:p>
        </p:txBody>
      </p:sp>
      <p:sp>
        <p:nvSpPr>
          <p:cNvPr id="12" name="Text 10"/>
          <p:cNvSpPr/>
          <p:nvPr/>
        </p:nvSpPr>
        <p:spPr>
          <a:xfrm>
            <a:off x="1554480" y="1764792"/>
            <a:ext cx="9601200" cy="4114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Modern attackers use Stable Diffusion &amp; Lama to seamlessly replace text without edge seams.  ➔  SATYA-ID Solution: High-pass Laplacian frequency spectrum analysis to catch localized skin-pore/texture smoothing.</a:t>
            </a:r>
            <a:endParaRPr lang="en-US" sz="1000" dirty="0"/>
          </a:p>
        </p:txBody>
      </p:sp>
      <p:sp>
        <p:nvSpPr>
          <p:cNvPr id="13" name="Shape 11"/>
          <p:cNvSpPr/>
          <p:nvPr/>
        </p:nvSpPr>
        <p:spPr>
          <a:xfrm>
            <a:off x="731520" y="2350008"/>
            <a:ext cx="10698480" cy="822960"/>
          </a:xfrm>
          <a:prstGeom prst="roundRect">
            <a:avLst>
              <a:gd name="adj" fmla="val 8889"/>
            </a:avLst>
          </a:prstGeom>
          <a:solidFill>
            <a:srgbClr val="131B2E"/>
          </a:solidFill>
          <a:ln w="12700">
            <a:solidFill>
              <a:srgbClr val="1E2E4A"/>
            </a:solidFill>
            <a:prstDash val="solid"/>
          </a:ln>
        </p:spPr>
      </p:sp>
      <p:sp>
        <p:nvSpPr>
          <p:cNvPr id="14" name="Shape 12"/>
          <p:cNvSpPr/>
          <p:nvPr/>
        </p:nvSpPr>
        <p:spPr>
          <a:xfrm>
            <a:off x="914400" y="2514600"/>
            <a:ext cx="502920" cy="502920"/>
          </a:xfrm>
          <a:prstGeom prst="ellipse">
            <a:avLst/>
          </a:prstGeom>
          <a:solidFill>
            <a:srgbClr val="00F0FF"/>
          </a:solidFill>
          <a:ln w="12700">
            <a:solidFill>
              <a:srgbClr val="00F0FF"/>
            </a:solidFill>
            <a:prstDash val="solid"/>
          </a:ln>
        </p:spPr>
      </p:sp>
      <p:sp>
        <p:nvSpPr>
          <p:cNvPr id="15" name="Text 13"/>
          <p:cNvSpPr/>
          <p:nvPr/>
        </p:nvSpPr>
        <p:spPr>
          <a:xfrm>
            <a:off x="914400" y="2514600"/>
            <a:ext cx="502920" cy="502920"/>
          </a:xfrm>
          <a:prstGeom prst="rect">
            <a:avLst/>
          </a:prstGeom>
          <a:noFill/>
          <a:ln/>
        </p:spPr>
        <p:txBody>
          <a:bodyPr wrap="square" rtlCol="0" anchor="ctr"/>
          <a:lstStyle/>
          <a:p>
            <a:pPr algn="ctr" indent="0" marL="0">
              <a:buNone/>
            </a:pPr>
            <a:r>
              <a:rPr lang="en-US" sz="1400" dirty="0">
                <a:solidFill>
                  <a:srgbClr val="031124"/>
                </a:solidFill>
                <a:latin typeface="Arial Black" pitchFamily="34" charset="0"/>
                <a:ea typeface="Arial Black" pitchFamily="34" charset="-122"/>
                <a:cs typeface="Arial Black" pitchFamily="34" charset="-120"/>
              </a:rPr>
              <a:t>2</a:t>
            </a:r>
            <a:endParaRPr lang="en-US" sz="1400" dirty="0"/>
          </a:p>
        </p:txBody>
      </p:sp>
      <p:sp>
        <p:nvSpPr>
          <p:cNvPr id="16" name="Text 14"/>
          <p:cNvSpPr/>
          <p:nvPr/>
        </p:nvSpPr>
        <p:spPr>
          <a:xfrm>
            <a:off x="1554480" y="2441448"/>
            <a:ext cx="960120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Font Metrology &amp; Micro-Typography Discrepancies</a:t>
            </a:r>
            <a:endParaRPr lang="en-US" sz="1200" dirty="0"/>
          </a:p>
        </p:txBody>
      </p:sp>
      <p:sp>
        <p:nvSpPr>
          <p:cNvPr id="17" name="Text 15"/>
          <p:cNvSpPr/>
          <p:nvPr/>
        </p:nvSpPr>
        <p:spPr>
          <a:xfrm>
            <a:off x="1554480" y="2697480"/>
            <a:ext cx="9601200" cy="4114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Official Indian IDs use strict proprietary typographies. Forgers substitute Arial/Calibri.  ➔  SATYA-ID Solution: Sub-pixel baseline alignment variance (σ &gt; 1.85px) and stroke-width profiling.</a:t>
            </a:r>
            <a:endParaRPr lang="en-US" sz="1000" dirty="0"/>
          </a:p>
        </p:txBody>
      </p:sp>
      <p:sp>
        <p:nvSpPr>
          <p:cNvPr id="18" name="Shape 16"/>
          <p:cNvSpPr/>
          <p:nvPr/>
        </p:nvSpPr>
        <p:spPr>
          <a:xfrm>
            <a:off x="731520" y="3282696"/>
            <a:ext cx="10698480" cy="822960"/>
          </a:xfrm>
          <a:prstGeom prst="roundRect">
            <a:avLst>
              <a:gd name="adj" fmla="val 8889"/>
            </a:avLst>
          </a:prstGeom>
          <a:solidFill>
            <a:srgbClr val="131B2E"/>
          </a:solidFill>
          <a:ln w="12700">
            <a:solidFill>
              <a:srgbClr val="1E2E4A"/>
            </a:solidFill>
            <a:prstDash val="solid"/>
          </a:ln>
        </p:spPr>
      </p:sp>
      <p:sp>
        <p:nvSpPr>
          <p:cNvPr id="19" name="Shape 17"/>
          <p:cNvSpPr/>
          <p:nvPr/>
        </p:nvSpPr>
        <p:spPr>
          <a:xfrm>
            <a:off x="914400" y="3447288"/>
            <a:ext cx="502920" cy="502920"/>
          </a:xfrm>
          <a:prstGeom prst="ellipse">
            <a:avLst/>
          </a:prstGeom>
          <a:solidFill>
            <a:srgbClr val="00F0FF"/>
          </a:solidFill>
          <a:ln w="12700">
            <a:solidFill>
              <a:srgbClr val="00F0FF"/>
            </a:solidFill>
            <a:prstDash val="solid"/>
          </a:ln>
        </p:spPr>
      </p:sp>
      <p:sp>
        <p:nvSpPr>
          <p:cNvPr id="20" name="Text 18"/>
          <p:cNvSpPr/>
          <p:nvPr/>
        </p:nvSpPr>
        <p:spPr>
          <a:xfrm>
            <a:off x="914400" y="3447288"/>
            <a:ext cx="502920" cy="502920"/>
          </a:xfrm>
          <a:prstGeom prst="rect">
            <a:avLst/>
          </a:prstGeom>
          <a:noFill/>
          <a:ln/>
        </p:spPr>
        <p:txBody>
          <a:bodyPr wrap="square" rtlCol="0" anchor="ctr"/>
          <a:lstStyle/>
          <a:p>
            <a:pPr algn="ctr" indent="0" marL="0">
              <a:buNone/>
            </a:pPr>
            <a:r>
              <a:rPr lang="en-US" sz="1400" dirty="0">
                <a:solidFill>
                  <a:srgbClr val="031124"/>
                </a:solidFill>
                <a:latin typeface="Arial Black" pitchFamily="34" charset="0"/>
                <a:ea typeface="Arial Black" pitchFamily="34" charset="-122"/>
                <a:cs typeface="Arial Black" pitchFamily="34" charset="-120"/>
              </a:rPr>
              <a:t>3</a:t>
            </a:r>
            <a:endParaRPr lang="en-US" sz="1400" dirty="0"/>
          </a:p>
        </p:txBody>
      </p:sp>
      <p:sp>
        <p:nvSpPr>
          <p:cNvPr id="21" name="Text 19"/>
          <p:cNvSpPr/>
          <p:nvPr/>
        </p:nvSpPr>
        <p:spPr>
          <a:xfrm>
            <a:off x="1554480" y="3374136"/>
            <a:ext cx="960120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Phishing QR Code Redirects</a:t>
            </a:r>
            <a:endParaRPr lang="en-US" sz="1200" dirty="0"/>
          </a:p>
        </p:txBody>
      </p:sp>
      <p:sp>
        <p:nvSpPr>
          <p:cNvPr id="22" name="Text 20"/>
          <p:cNvSpPr/>
          <p:nvPr/>
        </p:nvSpPr>
        <p:spPr>
          <a:xfrm>
            <a:off x="1554480" y="3630168"/>
            <a:ext cx="9601200" cy="4114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Counterfeit PVC cards embed QR codes redirecting to cloned lookalike verification portals.  ➔  SATYA-ID Solution: Offline PKI cryptographic signature validation &amp; strict *.gov.in domain whitelisting.</a:t>
            </a:r>
            <a:endParaRPr lang="en-US" sz="1000" dirty="0"/>
          </a:p>
        </p:txBody>
      </p:sp>
      <p:sp>
        <p:nvSpPr>
          <p:cNvPr id="23" name="Shape 21"/>
          <p:cNvSpPr/>
          <p:nvPr/>
        </p:nvSpPr>
        <p:spPr>
          <a:xfrm>
            <a:off x="731520" y="4215384"/>
            <a:ext cx="10698480" cy="822960"/>
          </a:xfrm>
          <a:prstGeom prst="roundRect">
            <a:avLst>
              <a:gd name="adj" fmla="val 8889"/>
            </a:avLst>
          </a:prstGeom>
          <a:solidFill>
            <a:srgbClr val="131B2E"/>
          </a:solidFill>
          <a:ln w="12700">
            <a:solidFill>
              <a:srgbClr val="1E2E4A"/>
            </a:solidFill>
            <a:prstDash val="solid"/>
          </a:ln>
        </p:spPr>
      </p:sp>
      <p:sp>
        <p:nvSpPr>
          <p:cNvPr id="24" name="Shape 22"/>
          <p:cNvSpPr/>
          <p:nvPr/>
        </p:nvSpPr>
        <p:spPr>
          <a:xfrm>
            <a:off x="914400" y="4379976"/>
            <a:ext cx="502920" cy="502920"/>
          </a:xfrm>
          <a:prstGeom prst="ellipse">
            <a:avLst/>
          </a:prstGeom>
          <a:solidFill>
            <a:srgbClr val="00F0FF"/>
          </a:solidFill>
          <a:ln w="12700">
            <a:solidFill>
              <a:srgbClr val="00F0FF"/>
            </a:solidFill>
            <a:prstDash val="solid"/>
          </a:ln>
        </p:spPr>
      </p:sp>
      <p:sp>
        <p:nvSpPr>
          <p:cNvPr id="25" name="Text 23"/>
          <p:cNvSpPr/>
          <p:nvPr/>
        </p:nvSpPr>
        <p:spPr>
          <a:xfrm>
            <a:off x="914400" y="4379976"/>
            <a:ext cx="502920" cy="502920"/>
          </a:xfrm>
          <a:prstGeom prst="rect">
            <a:avLst/>
          </a:prstGeom>
          <a:noFill/>
          <a:ln/>
        </p:spPr>
        <p:txBody>
          <a:bodyPr wrap="square" rtlCol="0" anchor="ctr"/>
          <a:lstStyle/>
          <a:p>
            <a:pPr algn="ctr" indent="0" marL="0">
              <a:buNone/>
            </a:pPr>
            <a:r>
              <a:rPr lang="en-US" sz="1400" dirty="0">
                <a:solidFill>
                  <a:srgbClr val="031124"/>
                </a:solidFill>
                <a:latin typeface="Arial Black" pitchFamily="34" charset="0"/>
                <a:ea typeface="Arial Black" pitchFamily="34" charset="-122"/>
                <a:cs typeface="Arial Black" pitchFamily="34" charset="-120"/>
              </a:rPr>
              <a:t>4</a:t>
            </a:r>
            <a:endParaRPr lang="en-US" sz="1400" dirty="0"/>
          </a:p>
        </p:txBody>
      </p:sp>
      <p:sp>
        <p:nvSpPr>
          <p:cNvPr id="26" name="Text 24"/>
          <p:cNvSpPr/>
          <p:nvPr/>
        </p:nvSpPr>
        <p:spPr>
          <a:xfrm>
            <a:off x="1554480" y="4306824"/>
            <a:ext cx="960120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Mathematical Checksum Bypasses</a:t>
            </a:r>
            <a:endParaRPr lang="en-US" sz="1200" dirty="0"/>
          </a:p>
        </p:txBody>
      </p:sp>
      <p:sp>
        <p:nvSpPr>
          <p:cNvPr id="27" name="Text 25"/>
          <p:cNvSpPr/>
          <p:nvPr/>
        </p:nvSpPr>
        <p:spPr>
          <a:xfrm>
            <a:off x="1554480" y="4562856"/>
            <a:ext cx="9601200" cy="4114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Hand-modified Aadhaar numbers or PAN letters violate underlying mathematical group properties.  ➔  SATYA-ID Solution: Full Verhoeff D5 dihedral group algorithm catching 100% of single-digit and transposition errors.</a:t>
            </a:r>
            <a:endParaRPr lang="en-US" sz="1000" dirty="0"/>
          </a:p>
        </p:txBody>
      </p:sp>
      <p:sp>
        <p:nvSpPr>
          <p:cNvPr id="28" name="Shape 26"/>
          <p:cNvSpPr/>
          <p:nvPr/>
        </p:nvSpPr>
        <p:spPr>
          <a:xfrm>
            <a:off x="731520" y="5148072"/>
            <a:ext cx="10698480" cy="822960"/>
          </a:xfrm>
          <a:prstGeom prst="roundRect">
            <a:avLst>
              <a:gd name="adj" fmla="val 8889"/>
            </a:avLst>
          </a:prstGeom>
          <a:solidFill>
            <a:srgbClr val="131B2E"/>
          </a:solidFill>
          <a:ln w="12700">
            <a:solidFill>
              <a:srgbClr val="1E2E4A"/>
            </a:solidFill>
            <a:prstDash val="solid"/>
          </a:ln>
        </p:spPr>
      </p:sp>
      <p:sp>
        <p:nvSpPr>
          <p:cNvPr id="29" name="Shape 27"/>
          <p:cNvSpPr/>
          <p:nvPr/>
        </p:nvSpPr>
        <p:spPr>
          <a:xfrm>
            <a:off x="914400" y="5312664"/>
            <a:ext cx="502920" cy="502920"/>
          </a:xfrm>
          <a:prstGeom prst="ellipse">
            <a:avLst/>
          </a:prstGeom>
          <a:solidFill>
            <a:srgbClr val="00F0FF"/>
          </a:solidFill>
          <a:ln w="12700">
            <a:solidFill>
              <a:srgbClr val="00F0FF"/>
            </a:solidFill>
            <a:prstDash val="solid"/>
          </a:ln>
        </p:spPr>
      </p:sp>
      <p:sp>
        <p:nvSpPr>
          <p:cNvPr id="30" name="Text 28"/>
          <p:cNvSpPr/>
          <p:nvPr/>
        </p:nvSpPr>
        <p:spPr>
          <a:xfrm>
            <a:off x="914400" y="5312664"/>
            <a:ext cx="502920" cy="502920"/>
          </a:xfrm>
          <a:prstGeom prst="rect">
            <a:avLst/>
          </a:prstGeom>
          <a:noFill/>
          <a:ln/>
        </p:spPr>
        <p:txBody>
          <a:bodyPr wrap="square" rtlCol="0" anchor="ctr"/>
          <a:lstStyle/>
          <a:p>
            <a:pPr algn="ctr" indent="0" marL="0">
              <a:buNone/>
            </a:pPr>
            <a:r>
              <a:rPr lang="en-US" sz="1400" dirty="0">
                <a:solidFill>
                  <a:srgbClr val="031124"/>
                </a:solidFill>
                <a:latin typeface="Arial Black" pitchFamily="34" charset="0"/>
                <a:ea typeface="Arial Black" pitchFamily="34" charset="-122"/>
                <a:cs typeface="Arial Black" pitchFamily="34" charset="-120"/>
              </a:rPr>
              <a:t>5</a:t>
            </a:r>
            <a:endParaRPr lang="en-US" sz="1400" dirty="0"/>
          </a:p>
        </p:txBody>
      </p:sp>
      <p:sp>
        <p:nvSpPr>
          <p:cNvPr id="31" name="Text 29"/>
          <p:cNvSpPr/>
          <p:nvPr/>
        </p:nvSpPr>
        <p:spPr>
          <a:xfrm>
            <a:off x="1554480" y="5239512"/>
            <a:ext cx="960120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Legal Inadmissibility (BSA 2023 / Section 65B)</a:t>
            </a:r>
            <a:endParaRPr lang="en-US" sz="1200" dirty="0"/>
          </a:p>
        </p:txBody>
      </p:sp>
      <p:sp>
        <p:nvSpPr>
          <p:cNvPr id="32" name="Text 30"/>
          <p:cNvSpPr/>
          <p:nvPr/>
        </p:nvSpPr>
        <p:spPr>
          <a:xfrm>
            <a:off x="1554480" y="5495544"/>
            <a:ext cx="9601200" cy="4114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Black-box percentage scores are rejected in criminal trials under Indian evidence laws.  ➔  SATYA-ID Solution: Automated Section 65B Forensic Examination Certificates with SHA-256 evidence digests.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SOLUTION OVERVIEW</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SATYA-ID: Multi-Tier Explainable Forensic Defense Platform</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371600"/>
            <a:ext cx="5486400" cy="4572000"/>
          </a:xfrm>
          <a:prstGeom prst="roundRect">
            <a:avLst>
              <a:gd name="adj" fmla="val 2000"/>
            </a:avLst>
          </a:prstGeom>
          <a:solidFill>
            <a:srgbClr val="131B2E"/>
          </a:solidFill>
          <a:ln w="12700">
            <a:solidFill>
              <a:srgbClr val="1E2E4A"/>
            </a:solidFill>
            <a:prstDash val="solid"/>
          </a:ln>
        </p:spPr>
      </p:sp>
      <p:sp>
        <p:nvSpPr>
          <p:cNvPr id="9" name="Text 7"/>
          <p:cNvSpPr/>
          <p:nvPr/>
        </p:nvSpPr>
        <p:spPr>
          <a:xfrm>
            <a:off x="1005840" y="1554480"/>
            <a:ext cx="4937760" cy="320040"/>
          </a:xfrm>
          <a:prstGeom prst="rect">
            <a:avLst/>
          </a:prstGeom>
          <a:noFill/>
          <a:ln/>
        </p:spPr>
        <p:txBody>
          <a:bodyPr wrap="square" rtlCol="0" anchor="ctr"/>
          <a:lstStyle/>
          <a:p>
            <a:pPr indent="0" marL="0">
              <a:buNone/>
            </a:pPr>
            <a:r>
              <a:rPr lang="en-US" sz="1400" b="1" dirty="0">
                <a:solidFill>
                  <a:srgbClr val="00F0FF"/>
                </a:solidFill>
                <a:latin typeface="Calibri" pitchFamily="34" charset="0"/>
                <a:ea typeface="Calibri" pitchFamily="34" charset="-122"/>
                <a:cs typeface="Calibri" pitchFamily="34" charset="-120"/>
              </a:rPr>
              <a:t>5-Tier Forensic Screening Pipeline</a:t>
            </a:r>
            <a:endParaRPr lang="en-US" sz="1400" dirty="0"/>
          </a:p>
        </p:txBody>
      </p:sp>
      <p:sp>
        <p:nvSpPr>
          <p:cNvPr id="10" name="Text 8"/>
          <p:cNvSpPr/>
          <p:nvPr/>
        </p:nvSpPr>
        <p:spPr>
          <a:xfrm>
            <a:off x="1005840" y="2011680"/>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Tier 1: Algorithmic &amp; Mathematical</a:t>
            </a:r>
            <a:endParaRPr lang="en-US" sz="1100" dirty="0"/>
          </a:p>
        </p:txBody>
      </p:sp>
      <p:sp>
        <p:nvSpPr>
          <p:cNvPr id="11" name="Text 9"/>
          <p:cNvSpPr/>
          <p:nvPr/>
        </p:nvSpPr>
        <p:spPr>
          <a:xfrm>
            <a:off x="1005840" y="2240280"/>
            <a:ext cx="493776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Verhoeff D5 Checksum (Aadhaar), PAN Syntax Regex, Passport MRZ 7-3-1 weight.</a:t>
            </a:r>
            <a:endParaRPr lang="en-US" sz="950" dirty="0"/>
          </a:p>
        </p:txBody>
      </p:sp>
      <p:sp>
        <p:nvSpPr>
          <p:cNvPr id="12" name="Text 10"/>
          <p:cNvSpPr/>
          <p:nvPr/>
        </p:nvSpPr>
        <p:spPr>
          <a:xfrm>
            <a:off x="1005840" y="2761488"/>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Tier 2: Visual &amp; Compression Physics (ELA)</a:t>
            </a:r>
            <a:endParaRPr lang="en-US" sz="1100" dirty="0"/>
          </a:p>
        </p:txBody>
      </p:sp>
      <p:sp>
        <p:nvSpPr>
          <p:cNvPr id="13" name="Text 11"/>
          <p:cNvSpPr/>
          <p:nvPr/>
        </p:nvSpPr>
        <p:spPr>
          <a:xfrm>
            <a:off x="1005840" y="2990088"/>
            <a:ext cx="493776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Adaptive JPEG recompression at Q=92% with false-color thermal heatmaps.</a:t>
            </a:r>
            <a:endParaRPr lang="en-US" sz="950" dirty="0"/>
          </a:p>
        </p:txBody>
      </p:sp>
      <p:sp>
        <p:nvSpPr>
          <p:cNvPr id="14" name="Text 12"/>
          <p:cNvSpPr/>
          <p:nvPr/>
        </p:nvSpPr>
        <p:spPr>
          <a:xfrm>
            <a:off x="1005840" y="3511296"/>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Tier 3: Spatial Font Metrology</a:t>
            </a:r>
            <a:endParaRPr lang="en-US" sz="1100" dirty="0"/>
          </a:p>
        </p:txBody>
      </p:sp>
      <p:sp>
        <p:nvSpPr>
          <p:cNvPr id="15" name="Text 13"/>
          <p:cNvSpPr/>
          <p:nvPr/>
        </p:nvSpPr>
        <p:spPr>
          <a:xfrm>
            <a:off x="1005840" y="3739896"/>
            <a:ext cx="493776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Sub-pixel baseline alignment jitter (σ) and character stroke-width uniformity.</a:t>
            </a:r>
            <a:endParaRPr lang="en-US" sz="950" dirty="0"/>
          </a:p>
        </p:txBody>
      </p:sp>
      <p:sp>
        <p:nvSpPr>
          <p:cNvPr id="16" name="Text 14"/>
          <p:cNvSpPr/>
          <p:nvPr/>
        </p:nvSpPr>
        <p:spPr>
          <a:xfrm>
            <a:off x="1005840" y="4261104"/>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Tier 4: Biometric Face Morph Screen</a:t>
            </a:r>
            <a:endParaRPr lang="en-US" sz="1100" dirty="0"/>
          </a:p>
        </p:txBody>
      </p:sp>
      <p:sp>
        <p:nvSpPr>
          <p:cNvPr id="17" name="Text 15"/>
          <p:cNvSpPr/>
          <p:nvPr/>
        </p:nvSpPr>
        <p:spPr>
          <a:xfrm>
            <a:off x="1005840" y="4489704"/>
            <a:ext cx="493776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Frequency-domain Laplacian edge energy loss detecting generative inpainting.</a:t>
            </a:r>
            <a:endParaRPr lang="en-US" sz="950" dirty="0"/>
          </a:p>
        </p:txBody>
      </p:sp>
      <p:sp>
        <p:nvSpPr>
          <p:cNvPr id="18" name="Text 16"/>
          <p:cNvSpPr/>
          <p:nvPr/>
        </p:nvSpPr>
        <p:spPr>
          <a:xfrm>
            <a:off x="1005840" y="5010912"/>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Tier 5: QR Cryptographic Integrity</a:t>
            </a:r>
            <a:endParaRPr lang="en-US" sz="1100" dirty="0"/>
          </a:p>
        </p:txBody>
      </p:sp>
      <p:sp>
        <p:nvSpPr>
          <p:cNvPr id="19" name="Text 17"/>
          <p:cNvSpPr/>
          <p:nvPr/>
        </p:nvSpPr>
        <p:spPr>
          <a:xfrm>
            <a:off x="1005840" y="5239512"/>
            <a:ext cx="4937760" cy="45720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Offline PKI digital signature verification &amp; anti-phishing whitelist gate.</a:t>
            </a:r>
            <a:endParaRPr lang="en-US" sz="950" dirty="0"/>
          </a:p>
        </p:txBody>
      </p:sp>
      <p:sp>
        <p:nvSpPr>
          <p:cNvPr id="20" name="Shape 18"/>
          <p:cNvSpPr/>
          <p:nvPr/>
        </p:nvSpPr>
        <p:spPr>
          <a:xfrm>
            <a:off x="6583680" y="1371600"/>
            <a:ext cx="4846320" cy="4572000"/>
          </a:xfrm>
          <a:prstGeom prst="roundRect">
            <a:avLst>
              <a:gd name="adj" fmla="val 2000"/>
            </a:avLst>
          </a:prstGeom>
          <a:solidFill>
            <a:srgbClr val="131B2E"/>
          </a:solidFill>
          <a:ln w="12700">
            <a:solidFill>
              <a:srgbClr val="1E2E4A"/>
            </a:solidFill>
            <a:prstDash val="solid"/>
          </a:ln>
        </p:spPr>
      </p:sp>
      <p:sp>
        <p:nvSpPr>
          <p:cNvPr id="21" name="Text 19"/>
          <p:cNvSpPr/>
          <p:nvPr/>
        </p:nvSpPr>
        <p:spPr>
          <a:xfrm>
            <a:off x="6858000" y="1554480"/>
            <a:ext cx="4297680" cy="320040"/>
          </a:xfrm>
          <a:prstGeom prst="rect">
            <a:avLst/>
          </a:prstGeom>
          <a:noFill/>
          <a:ln/>
        </p:spPr>
        <p:txBody>
          <a:bodyPr wrap="square"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Key Operational Advantages</a:t>
            </a:r>
            <a:endParaRPr lang="en-US" sz="1400" dirty="0"/>
          </a:p>
        </p:txBody>
      </p:sp>
      <p:sp>
        <p:nvSpPr>
          <p:cNvPr id="22" name="Text 20"/>
          <p:cNvSpPr/>
          <p:nvPr/>
        </p:nvSpPr>
        <p:spPr>
          <a:xfrm>
            <a:off x="6858000" y="2011680"/>
            <a:ext cx="429768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Sub-Second Verification</a:t>
            </a:r>
            <a:endParaRPr lang="en-US" sz="1100" dirty="0"/>
          </a:p>
        </p:txBody>
      </p:sp>
      <p:sp>
        <p:nvSpPr>
          <p:cNvPr id="23" name="Text 21"/>
          <p:cNvSpPr/>
          <p:nvPr/>
        </p:nvSpPr>
        <p:spPr>
          <a:xfrm>
            <a:off x="6858000" y="2240280"/>
            <a:ext cx="429768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Entire 5-tier screening executes in under 800 milliseconds on standard edge hardware.</a:t>
            </a:r>
            <a:endParaRPr lang="en-US" sz="1000" dirty="0"/>
          </a:p>
        </p:txBody>
      </p:sp>
      <p:sp>
        <p:nvSpPr>
          <p:cNvPr id="24" name="Text 22"/>
          <p:cNvSpPr/>
          <p:nvPr/>
        </p:nvSpPr>
        <p:spPr>
          <a:xfrm>
            <a:off x="6858000" y="2944368"/>
            <a:ext cx="429768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DPDP Act 2023 Compliant</a:t>
            </a:r>
            <a:endParaRPr lang="en-US" sz="1100" dirty="0"/>
          </a:p>
        </p:txBody>
      </p:sp>
      <p:sp>
        <p:nvSpPr>
          <p:cNvPr id="25" name="Text 23"/>
          <p:cNvSpPr/>
          <p:nvPr/>
        </p:nvSpPr>
        <p:spPr>
          <a:xfrm>
            <a:off x="6858000" y="3172968"/>
            <a:ext cx="429768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Zero raw document retention; citizen images analyzed in volatile RAM and scrubbed immediately.</a:t>
            </a:r>
            <a:endParaRPr lang="en-US" sz="1000" dirty="0"/>
          </a:p>
        </p:txBody>
      </p:sp>
      <p:sp>
        <p:nvSpPr>
          <p:cNvPr id="26" name="Text 24"/>
          <p:cNvSpPr/>
          <p:nvPr/>
        </p:nvSpPr>
        <p:spPr>
          <a:xfrm>
            <a:off x="6858000" y="3877056"/>
            <a:ext cx="429768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Dual-Canvas Inspector</a:t>
            </a:r>
            <a:endParaRPr lang="en-US" sz="1100" dirty="0"/>
          </a:p>
        </p:txBody>
      </p:sp>
      <p:sp>
        <p:nvSpPr>
          <p:cNvPr id="27" name="Text 25"/>
          <p:cNvSpPr/>
          <p:nvPr/>
        </p:nvSpPr>
        <p:spPr>
          <a:xfrm>
            <a:off x="6858000" y="4105656"/>
            <a:ext cx="429768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Live interactive view of original document alongside amplified ELA difference heatmap.</a:t>
            </a:r>
            <a:endParaRPr lang="en-US" sz="1000" dirty="0"/>
          </a:p>
        </p:txBody>
      </p:sp>
      <p:sp>
        <p:nvSpPr>
          <p:cNvPr id="28" name="Text 26"/>
          <p:cNvSpPr/>
          <p:nvPr/>
        </p:nvSpPr>
        <p:spPr>
          <a:xfrm>
            <a:off x="6858000" y="4809744"/>
            <a:ext cx="429768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Court-Admissible Output</a:t>
            </a:r>
            <a:endParaRPr lang="en-US" sz="1100" dirty="0"/>
          </a:p>
        </p:txBody>
      </p:sp>
      <p:sp>
        <p:nvSpPr>
          <p:cNvPr id="29" name="Text 27"/>
          <p:cNvSpPr/>
          <p:nvPr/>
        </p:nvSpPr>
        <p:spPr>
          <a:xfrm>
            <a:off x="6858000" y="5038344"/>
            <a:ext cx="429768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One-click automated Section 65B forensic examination certificate with SHA-256 evidence hash.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SYSTEM ARCHITECTURE</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End-to-End Technical Pipeline &amp; Data Workflow</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645920"/>
            <a:ext cx="2011680" cy="2011680"/>
          </a:xfrm>
          <a:prstGeom prst="roundRect">
            <a:avLst>
              <a:gd name="adj" fmla="val 4545"/>
            </a:avLst>
          </a:prstGeom>
          <a:solidFill>
            <a:srgbClr val="131B2E"/>
          </a:solidFill>
          <a:ln w="12700">
            <a:solidFill>
              <a:srgbClr val="1E2E4A"/>
            </a:solidFill>
            <a:prstDash val="solid"/>
          </a:ln>
        </p:spPr>
      </p:sp>
      <p:sp>
        <p:nvSpPr>
          <p:cNvPr id="9" name="Text 7"/>
          <p:cNvSpPr/>
          <p:nvPr/>
        </p:nvSpPr>
        <p:spPr>
          <a:xfrm>
            <a:off x="868680" y="1828800"/>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Ingestion</a:t>
            </a:r>
            <a:endParaRPr lang="en-US" sz="1200" dirty="0"/>
          </a:p>
        </p:txBody>
      </p:sp>
      <p:sp>
        <p:nvSpPr>
          <p:cNvPr id="10" name="Text 8"/>
          <p:cNvSpPr/>
          <p:nvPr/>
        </p:nvSpPr>
        <p:spPr>
          <a:xfrm>
            <a:off x="868680" y="2286000"/>
            <a:ext cx="1737360" cy="11887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Image / PDF / Camera stream captured locally.</a:t>
            </a:r>
            <a:endParaRPr lang="en-US" sz="1000" dirty="0"/>
          </a:p>
        </p:txBody>
      </p:sp>
      <p:sp>
        <p:nvSpPr>
          <p:cNvPr id="11" name="Shape 9"/>
          <p:cNvSpPr/>
          <p:nvPr/>
        </p:nvSpPr>
        <p:spPr>
          <a:xfrm>
            <a:off x="2926080" y="1645920"/>
            <a:ext cx="2011680" cy="2011680"/>
          </a:xfrm>
          <a:prstGeom prst="roundRect">
            <a:avLst>
              <a:gd name="adj" fmla="val 4545"/>
            </a:avLst>
          </a:prstGeom>
          <a:solidFill>
            <a:srgbClr val="131B2E"/>
          </a:solidFill>
          <a:ln w="12700">
            <a:solidFill>
              <a:srgbClr val="1E2E4A"/>
            </a:solidFill>
            <a:prstDash val="solid"/>
          </a:ln>
        </p:spPr>
      </p:sp>
      <p:sp>
        <p:nvSpPr>
          <p:cNvPr id="12" name="Text 10"/>
          <p:cNvSpPr/>
          <p:nvPr/>
        </p:nvSpPr>
        <p:spPr>
          <a:xfrm>
            <a:off x="3063240" y="1828800"/>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SHA-256 Hashing</a:t>
            </a:r>
            <a:endParaRPr lang="en-US" sz="1200" dirty="0"/>
          </a:p>
        </p:txBody>
      </p:sp>
      <p:sp>
        <p:nvSpPr>
          <p:cNvPr id="13" name="Text 11"/>
          <p:cNvSpPr/>
          <p:nvPr/>
        </p:nvSpPr>
        <p:spPr>
          <a:xfrm>
            <a:off x="3063240" y="2286000"/>
            <a:ext cx="1737360" cy="11887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Cryptographic evidence digest established for chain of custody.</a:t>
            </a:r>
            <a:endParaRPr lang="en-US" sz="1000" dirty="0"/>
          </a:p>
        </p:txBody>
      </p:sp>
      <p:sp>
        <p:nvSpPr>
          <p:cNvPr id="14" name="Shape 12"/>
          <p:cNvSpPr/>
          <p:nvPr/>
        </p:nvSpPr>
        <p:spPr>
          <a:xfrm>
            <a:off x="5120640" y="1645920"/>
            <a:ext cx="2011680" cy="2011680"/>
          </a:xfrm>
          <a:prstGeom prst="roundRect">
            <a:avLst>
              <a:gd name="adj" fmla="val 4545"/>
            </a:avLst>
          </a:prstGeom>
          <a:solidFill>
            <a:srgbClr val="0F2B48"/>
          </a:solidFill>
          <a:ln w="19050">
            <a:solidFill>
              <a:srgbClr val="00F0FF"/>
            </a:solidFill>
            <a:prstDash val="solid"/>
          </a:ln>
        </p:spPr>
      </p:sp>
      <p:sp>
        <p:nvSpPr>
          <p:cNvPr id="15" name="Text 13"/>
          <p:cNvSpPr/>
          <p:nvPr/>
        </p:nvSpPr>
        <p:spPr>
          <a:xfrm>
            <a:off x="5257800" y="1828800"/>
            <a:ext cx="1737360" cy="365760"/>
          </a:xfrm>
          <a:prstGeom prst="rect">
            <a:avLst/>
          </a:prstGeom>
          <a:noFill/>
          <a:ln/>
        </p:spPr>
        <p:txBody>
          <a:bodyPr wrap="square" rtlCol="0" anchor="ctr"/>
          <a:lstStyle/>
          <a:p>
            <a:pPr algn="ctr" indent="0" marL="0">
              <a:buNone/>
            </a:pPr>
            <a:r>
              <a:rPr lang="en-US" sz="1200" b="1" dirty="0">
                <a:solidFill>
                  <a:srgbClr val="00F0FF"/>
                </a:solidFill>
                <a:latin typeface="Calibri" pitchFamily="34" charset="0"/>
                <a:ea typeface="Calibri" pitchFamily="34" charset="-122"/>
                <a:cs typeface="Calibri" pitchFamily="34" charset="-120"/>
              </a:rPr>
              <a:t>3. Multi-Vector Engine</a:t>
            </a:r>
            <a:endParaRPr lang="en-US" sz="1200" dirty="0"/>
          </a:p>
        </p:txBody>
      </p:sp>
      <p:sp>
        <p:nvSpPr>
          <p:cNvPr id="16" name="Text 14"/>
          <p:cNvSpPr/>
          <p:nvPr/>
        </p:nvSpPr>
        <p:spPr>
          <a:xfrm>
            <a:off x="5257800" y="2286000"/>
            <a:ext cx="1737360" cy="11887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Concurrent execution of Verhoeff, ELA, Font &amp; Face screens.</a:t>
            </a:r>
            <a:endParaRPr lang="en-US" sz="1000" dirty="0"/>
          </a:p>
        </p:txBody>
      </p:sp>
      <p:sp>
        <p:nvSpPr>
          <p:cNvPr id="17" name="Shape 15"/>
          <p:cNvSpPr/>
          <p:nvPr/>
        </p:nvSpPr>
        <p:spPr>
          <a:xfrm>
            <a:off x="7315200" y="1645920"/>
            <a:ext cx="2011680" cy="2011680"/>
          </a:xfrm>
          <a:prstGeom prst="roundRect">
            <a:avLst>
              <a:gd name="adj" fmla="val 4545"/>
            </a:avLst>
          </a:prstGeom>
          <a:solidFill>
            <a:srgbClr val="131B2E"/>
          </a:solidFill>
          <a:ln w="12700">
            <a:solidFill>
              <a:srgbClr val="1E2E4A"/>
            </a:solidFill>
            <a:prstDash val="solid"/>
          </a:ln>
        </p:spPr>
      </p:sp>
      <p:sp>
        <p:nvSpPr>
          <p:cNvPr id="18" name="Text 16"/>
          <p:cNvSpPr/>
          <p:nvPr/>
        </p:nvSpPr>
        <p:spPr>
          <a:xfrm>
            <a:off x="7452360" y="1828800"/>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Evidence Aggregator</a:t>
            </a:r>
            <a:endParaRPr lang="en-US" sz="1200" dirty="0"/>
          </a:p>
        </p:txBody>
      </p:sp>
      <p:sp>
        <p:nvSpPr>
          <p:cNvPr id="19" name="Text 17"/>
          <p:cNvSpPr/>
          <p:nvPr/>
        </p:nvSpPr>
        <p:spPr>
          <a:xfrm>
            <a:off x="7452360" y="2286000"/>
            <a:ext cx="1737360" cy="11887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Weighted Trust Score (0-100%) and anomaly clustering.</a:t>
            </a:r>
            <a:endParaRPr lang="en-US" sz="1000" dirty="0"/>
          </a:p>
        </p:txBody>
      </p:sp>
      <p:sp>
        <p:nvSpPr>
          <p:cNvPr id="20" name="Shape 18"/>
          <p:cNvSpPr/>
          <p:nvPr/>
        </p:nvSpPr>
        <p:spPr>
          <a:xfrm>
            <a:off x="9509760" y="1645920"/>
            <a:ext cx="2011680" cy="2011680"/>
          </a:xfrm>
          <a:prstGeom prst="roundRect">
            <a:avLst>
              <a:gd name="adj" fmla="val 4545"/>
            </a:avLst>
          </a:prstGeom>
          <a:solidFill>
            <a:srgbClr val="131B2E"/>
          </a:solidFill>
          <a:ln w="12700">
            <a:solidFill>
              <a:srgbClr val="1E2E4A"/>
            </a:solidFill>
            <a:prstDash val="solid"/>
          </a:ln>
        </p:spPr>
      </p:sp>
      <p:sp>
        <p:nvSpPr>
          <p:cNvPr id="21" name="Text 19"/>
          <p:cNvSpPr/>
          <p:nvPr/>
        </p:nvSpPr>
        <p:spPr>
          <a:xfrm>
            <a:off x="9646920" y="1828800"/>
            <a:ext cx="17373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Court Certificate</a:t>
            </a:r>
            <a:endParaRPr lang="en-US" sz="1200" dirty="0"/>
          </a:p>
        </p:txBody>
      </p:sp>
      <p:sp>
        <p:nvSpPr>
          <p:cNvPr id="22" name="Text 20"/>
          <p:cNvSpPr/>
          <p:nvPr/>
        </p:nvSpPr>
        <p:spPr>
          <a:xfrm>
            <a:off x="9646920" y="2286000"/>
            <a:ext cx="1737360" cy="1188720"/>
          </a:xfrm>
          <a:prstGeom prst="rect">
            <a:avLst/>
          </a:prstGeom>
          <a:noFill/>
          <a:ln/>
        </p:spPr>
        <p:txBody>
          <a:bodyPr wrap="square"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BSA 2023 / Sec 65B certified legal evidentiary exhibit.</a:t>
            </a:r>
            <a:endParaRPr lang="en-US" sz="1000" dirty="0"/>
          </a:p>
        </p:txBody>
      </p:sp>
      <p:sp>
        <p:nvSpPr>
          <p:cNvPr id="23" name="Shape 21"/>
          <p:cNvSpPr/>
          <p:nvPr/>
        </p:nvSpPr>
        <p:spPr>
          <a:xfrm>
            <a:off x="731520" y="4023360"/>
            <a:ext cx="10698480" cy="1920240"/>
          </a:xfrm>
          <a:prstGeom prst="roundRect">
            <a:avLst>
              <a:gd name="adj" fmla="val 4762"/>
            </a:avLst>
          </a:prstGeom>
          <a:solidFill>
            <a:srgbClr val="060A12"/>
          </a:solidFill>
          <a:ln w="12700">
            <a:solidFill>
              <a:srgbClr val="1E2E4A"/>
            </a:solidFill>
            <a:prstDash val="solid"/>
          </a:ln>
        </p:spPr>
      </p:sp>
      <p:sp>
        <p:nvSpPr>
          <p:cNvPr id="24" name="Text 22"/>
          <p:cNvSpPr/>
          <p:nvPr/>
        </p:nvSpPr>
        <p:spPr>
          <a:xfrm>
            <a:off x="1005840" y="4206240"/>
            <a:ext cx="10058400" cy="274320"/>
          </a:xfrm>
          <a:prstGeom prst="rect">
            <a:avLst/>
          </a:prstGeom>
          <a:noFill/>
          <a:ln/>
        </p:spPr>
        <p:txBody>
          <a:bodyPr wrap="square" rtlCol="0" anchor="ctr"/>
          <a:lstStyle/>
          <a:p>
            <a:pPr indent="0" marL="0">
              <a:buNone/>
            </a:pPr>
            <a:r>
              <a:rPr lang="en-US" sz="1200" b="1" dirty="0">
                <a:solidFill>
                  <a:srgbClr val="00F0FF"/>
                </a:solidFill>
                <a:latin typeface="Calibri" pitchFamily="34" charset="0"/>
                <a:ea typeface="Calibri" pitchFamily="34" charset="-122"/>
                <a:cs typeface="Calibri" pitchFamily="34" charset="-120"/>
              </a:rPr>
              <a:t>Core Algorithmic Formulations Executed in Real-Time:</a:t>
            </a:r>
            <a:endParaRPr lang="en-US" sz="1200" dirty="0"/>
          </a:p>
        </p:txBody>
      </p:sp>
      <p:sp>
        <p:nvSpPr>
          <p:cNvPr id="25" name="Text 23"/>
          <p:cNvSpPr/>
          <p:nvPr/>
        </p:nvSpPr>
        <p:spPr>
          <a:xfrm>
            <a:off x="1005840" y="4526280"/>
            <a:ext cx="10058400" cy="1280160"/>
          </a:xfrm>
          <a:prstGeom prst="rect">
            <a:avLst/>
          </a:prstGeom>
          <a:noFill/>
          <a:ln/>
        </p:spPr>
        <p:txBody>
          <a:bodyPr wrap="square" rtlCol="0" anchor="ctr"/>
          <a:lstStyle/>
          <a:p>
            <a:pPr indent="0" marL="0">
              <a:buNone/>
            </a:pPr>
            <a:r>
              <a:rPr lang="en-US" sz="1050" b="1" dirty="0">
                <a:solidFill>
                  <a:srgbClr val="F59E0B"/>
                </a:solidFill>
                <a:latin typeface="Courier New" pitchFamily="34" charset="0"/>
                <a:ea typeface="Courier New" pitchFamily="34" charset="-122"/>
                <a:cs typeface="Courier New" pitchFamily="34" charset="-120"/>
              </a:rPr>
              <a:t>• Verhoeff Checksum Kernel: </a:t>
            </a:r>
            <a:pPr indent="0" marL="0">
              <a:buNone/>
            </a:pPr>
            <a:r>
              <a:rPr lang="en-US" sz="1050" dirty="0">
                <a:solidFill>
                  <a:srgbClr val="FFFFFF"/>
                </a:solidFill>
                <a:latin typeface="Courier New" pitchFamily="34" charset="0"/>
                <a:ea typeface="Courier New" pitchFamily="34" charset="-122"/>
                <a:cs typeface="Courier New" pitchFamily="34" charset="-120"/>
              </a:rPr>
              <a:t>c = ∑_{i=1}^{12} P(i % 8, a_{13-i}) === 0 (under D5 Dihedral Group multiplication)
</a:t>
            </a:r>
            <a:pPr indent="0" marL="0">
              <a:buNone/>
            </a:pPr>
            <a:r>
              <a:rPr lang="en-US" sz="1050" b="1" dirty="0">
                <a:solidFill>
                  <a:srgbClr val="F59E0B"/>
                </a:solidFill>
                <a:latin typeface="Courier New" pitchFamily="34" charset="0"/>
                <a:ea typeface="Courier New" pitchFamily="34" charset="-122"/>
                <a:cs typeface="Courier New" pitchFamily="34" charset="-120"/>
              </a:rPr>
              <a:t>• ELA Difference Tensor: </a:t>
            </a:r>
            <a:pPr indent="0" marL="0">
              <a:buNone/>
            </a:pPr>
            <a:r>
              <a:rPr lang="en-US" sz="1050" dirty="0">
                <a:solidFill>
                  <a:srgbClr val="FFFFFF"/>
                </a:solidFill>
                <a:latin typeface="Courier New" pitchFamily="34" charset="0"/>
                <a:ea typeface="Courier New" pitchFamily="34" charset="-122"/>
                <a:cs typeface="Courier New" pitchFamily="34" charset="-120"/>
              </a:rPr>
              <a:t>E(x, y) = min(255, α · |I_{orig}(x,y) - I_{comp}(x,y)|) with false-color thermal mapping
</a:t>
            </a:r>
            <a:pPr indent="0" marL="0">
              <a:buNone/>
            </a:pPr>
            <a:r>
              <a:rPr lang="en-US" sz="1050" b="1" dirty="0">
                <a:solidFill>
                  <a:srgbClr val="F59E0B"/>
                </a:solidFill>
                <a:latin typeface="Courier New" pitchFamily="34" charset="0"/>
                <a:ea typeface="Courier New" pitchFamily="34" charset="-122"/>
                <a:cs typeface="Courier New" pitchFamily="34" charset="-120"/>
              </a:rPr>
              <a:t>• Baseline Alignment Jitter: </a:t>
            </a:r>
            <a:pPr indent="0" marL="0">
              <a:buNone/>
            </a:pPr>
            <a:r>
              <a:rPr lang="en-US" sz="1050" dirty="0">
                <a:solidFill>
                  <a:srgbClr val="FFFFFF"/>
                </a:solidFill>
                <a:latin typeface="Courier New" pitchFamily="34" charset="0"/>
                <a:ea typeface="Courier New" pitchFamily="34" charset="-122"/>
                <a:cs typeface="Courier New" pitchFamily="34" charset="-120"/>
              </a:rPr>
              <a:t>σ_{baseline} = sqrt( ∑(y_k - ȳ)² / (N-1) ) — triggers forgery alert when σ &gt; 1.85px</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COMPETITIVE EDGE</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Feature-by-Feature Innovation &amp; Uniqueness Matrix</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4572000"/>
        </p:xfrm>
        <a:graphic>
          <a:graphicData uri="http://schemas.openxmlformats.org/drawingml/2006/table">
            <a:tbl>
              <a:tblPr/>
              <a:tblGrid>
                <a:gridCol w="2674620"/>
                <a:gridCol w="2674620"/>
                <a:gridCol w="2674620"/>
                <a:gridCol w="2674620"/>
              </a:tblGrid>
              <a:tr h="571500">
                <a:tc>
                  <a:txBody>
                    <a:bodyPr/>
                    <a:lstStyle/>
                    <a:p>
                      <a:pPr indent="0" marL="0">
                        <a:buNone/>
                      </a:pPr>
                      <a:r>
                        <a:rPr lang="en-US" sz="950" b="1" dirty="0">
                          <a:solidFill>
                            <a:srgbClr val="00F0FF"/>
                          </a:solidFill>
                          <a:latin typeface="Calibri" pitchFamily="34" charset="0"/>
                          <a:ea typeface="Calibri" pitchFamily="34" charset="-122"/>
                          <a:cs typeface="Calibri" pitchFamily="34" charset="-120"/>
                        </a:rPr>
                        <a:t>Capability / Feature</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00F0FF"/>
                          </a:solidFill>
                          <a:latin typeface="Calibri" pitchFamily="34" charset="0"/>
                          <a:ea typeface="Calibri" pitchFamily="34" charset="-122"/>
                          <a:cs typeface="Calibri" pitchFamily="34" charset="-120"/>
                        </a:rPr>
                        <a:t>Standard KYC (Onfido/Veriff)</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00F0FF"/>
                          </a:solidFill>
                          <a:latin typeface="Calibri" pitchFamily="34" charset="0"/>
                          <a:ea typeface="Calibri" pitchFamily="34" charset="-122"/>
                          <a:cs typeface="Calibri" pitchFamily="34" charset="-120"/>
                        </a:rPr>
                        <a:t>Deep Learning Alone</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00F0FF"/>
                          </a:solidFill>
                          <a:latin typeface="Calibri" pitchFamily="34" charset="0"/>
                          <a:ea typeface="Calibri" pitchFamily="34" charset="-122"/>
                          <a:cs typeface="Calibri" pitchFamily="34" charset="-120"/>
                        </a:rPr>
                        <a:t>SATYA-ID (Our Solution)</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AI Inpainted Text Detection</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Fails (OCR reads text)</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Partial (~62% accuracy)</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&gt;94% via Frequency ELA</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Font Metrology &amp; Baseline Jitter</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Ignored</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Ignored</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Sub-pixel Baseline Profiling (σ)</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Aadhaar Verhoeff Checksum Check</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12-digit length check only</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Not checked</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100% Mathematical Error Trap</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Morphed Facial Passport Screen</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&gt;68% Failure at e-gates</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71% Accuracy</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Laplacian High-Pass Filter</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Phishing QR Interception</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Blindly opens link</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N/A</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Offline PKI &amp; Whitelist Check</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Court Evidentiary Admissibility</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Non-compliant</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Inadmissible (Black Box)</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Automated BSA 2023 / Sec 65B Cert</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r h="5715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Edge &amp; Offline Operation</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Cloud required</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dirty="0">
                          <a:solidFill>
                            <a:srgbClr val="FFFFFF"/>
                          </a:solidFill>
                          <a:latin typeface="Calibri" pitchFamily="34" charset="0"/>
                          <a:ea typeface="Calibri" pitchFamily="34" charset="-122"/>
                          <a:cs typeface="Calibri" pitchFamily="34" charset="-120"/>
                        </a:rPr>
                        <a:t>❌ Heavy GPU required</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131B2E"/>
                    </a:solidFill>
                  </a:tcPr>
                </a:tc>
                <a:tc>
                  <a:txBody>
                    <a:bodyPr/>
                    <a:lstStyle/>
                    <a:p>
                      <a:pPr indent="0" marL="0">
                        <a:buNone/>
                      </a:pPr>
                      <a:r>
                        <a:rPr lang="en-US" sz="950" b="1" dirty="0">
                          <a:solidFill>
                            <a:srgbClr val="10B981"/>
                          </a:solidFill>
                          <a:latin typeface="Calibri" pitchFamily="34" charset="0"/>
                          <a:ea typeface="Calibri" pitchFamily="34" charset="-122"/>
                          <a:cs typeface="Calibri" pitchFamily="34" charset="-120"/>
                        </a:rPr>
                        <a:t>✅ Client/Edge Wasm Capable</a:t>
                      </a:r>
                      <a:endParaRPr lang="en-US" sz="950" dirty="0">
                        <a:latin typeface="Calibri" charset="0"/>
                        <a:ea typeface="Calibri" charset="0"/>
                        <a:cs typeface="Calibri" charset="0"/>
                      </a:endParaRPr>
                    </a:p>
                  </a:txBody>
                  <a:tcPr marL="109728" marR="109728" marT="73152" marB="73152">
                    <a:lnL w="12700" cap="flat" cmpd="sng" algn="ctr">
                      <a:solidFill>
                        <a:srgbClr val="1E2E4A"/>
                      </a:solidFill>
                      <a:prstDash val="solid"/>
                      <a:round/>
                      <a:headEnd type="none" w="med" len="med"/>
                      <a:tailEnd type="none" w="med" len="med"/>
                    </a:lnL>
                    <a:lnR w="12700" cap="flat" cmpd="sng" algn="ctr">
                      <a:solidFill>
                        <a:srgbClr val="1E2E4A"/>
                      </a:solidFill>
                      <a:prstDash val="solid"/>
                      <a:round/>
                      <a:headEnd type="none" w="med" len="med"/>
                      <a:tailEnd type="none" w="med" len="med"/>
                    </a:lnR>
                    <a:lnT w="12700" cap="flat" cmpd="sng" algn="ctr">
                      <a:solidFill>
                        <a:srgbClr val="1E2E4A"/>
                      </a:solidFill>
                      <a:prstDash val="solid"/>
                      <a:round/>
                      <a:headEnd type="none" w="med" len="med"/>
                      <a:tailEnd type="none" w="med" len="med"/>
                    </a:lnT>
                    <a:lnB w="12700" cap="flat" cmpd="sng" algn="ctr">
                      <a:solidFill>
                        <a:srgbClr val="1E2E4A"/>
                      </a:solidFill>
                      <a:prstDash val="solid"/>
                      <a:round/>
                      <a:headEnd type="none" w="med" len="med"/>
                      <a:tailEnd type="none" w="med" len="med"/>
                    </a:lnB>
                    <a:solidFill>
                      <a:srgbClr val="0F2B48"/>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IMPLEMENTATION</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Technology Stack &amp; Privacy-First Architecture (DPDP Act 2023)</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371600"/>
            <a:ext cx="5120640" cy="4572000"/>
          </a:xfrm>
          <a:prstGeom prst="roundRect">
            <a:avLst>
              <a:gd name="adj" fmla="val 2000"/>
            </a:avLst>
          </a:prstGeom>
          <a:solidFill>
            <a:srgbClr val="131B2E"/>
          </a:solidFill>
          <a:ln w="12700">
            <a:solidFill>
              <a:srgbClr val="1E2E4A"/>
            </a:solidFill>
            <a:prstDash val="solid"/>
          </a:ln>
        </p:spPr>
      </p:sp>
      <p:sp>
        <p:nvSpPr>
          <p:cNvPr id="9" name="Text 7"/>
          <p:cNvSpPr/>
          <p:nvPr/>
        </p:nvSpPr>
        <p:spPr>
          <a:xfrm>
            <a:off x="1005840" y="1554480"/>
            <a:ext cx="4572000" cy="320040"/>
          </a:xfrm>
          <a:prstGeom prst="rect">
            <a:avLst/>
          </a:prstGeom>
          <a:noFill/>
          <a:ln/>
        </p:spPr>
        <p:txBody>
          <a:bodyPr wrap="square" rtlCol="0" anchor="ctr"/>
          <a:lstStyle/>
          <a:p>
            <a:pPr indent="0" marL="0">
              <a:buNone/>
            </a:pPr>
            <a:r>
              <a:rPr lang="en-US" sz="1400" b="1" dirty="0">
                <a:solidFill>
                  <a:srgbClr val="00F0FF"/>
                </a:solidFill>
                <a:latin typeface="Calibri" pitchFamily="34" charset="0"/>
                <a:ea typeface="Calibri" pitchFamily="34" charset="-122"/>
                <a:cs typeface="Calibri" pitchFamily="34" charset="-120"/>
              </a:rPr>
              <a:t>Core Technology Stack</a:t>
            </a:r>
            <a:endParaRPr lang="en-US" sz="1400" dirty="0"/>
          </a:p>
        </p:txBody>
      </p:sp>
      <p:sp>
        <p:nvSpPr>
          <p:cNvPr id="10" name="Text 8"/>
          <p:cNvSpPr/>
          <p:nvPr/>
        </p:nvSpPr>
        <p:spPr>
          <a:xfrm>
            <a:off x="1005840" y="2011680"/>
            <a:ext cx="45720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 / UI Layer</a:t>
            </a:r>
            <a:endParaRPr lang="en-US" sz="1100" dirty="0"/>
          </a:p>
        </p:txBody>
      </p:sp>
      <p:sp>
        <p:nvSpPr>
          <p:cNvPr id="11" name="Text 9"/>
          <p:cNvSpPr/>
          <p:nvPr/>
        </p:nvSpPr>
        <p:spPr>
          <a:xfrm>
            <a:off x="1005840" y="2240280"/>
            <a:ext cx="457200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React 19, Vite, HTML5 Canvas API for real-time pixel difference manipulation and heatmap overlays.</a:t>
            </a:r>
            <a:endParaRPr lang="en-US" sz="1000" dirty="0"/>
          </a:p>
        </p:txBody>
      </p:sp>
      <p:sp>
        <p:nvSpPr>
          <p:cNvPr id="12" name="Text 10"/>
          <p:cNvSpPr/>
          <p:nvPr/>
        </p:nvSpPr>
        <p:spPr>
          <a:xfrm>
            <a:off x="1005840" y="2926080"/>
            <a:ext cx="45720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Algorithmic Forensics Engine</a:t>
            </a:r>
            <a:endParaRPr lang="en-US" sz="1100" dirty="0"/>
          </a:p>
        </p:txBody>
      </p:sp>
      <p:sp>
        <p:nvSpPr>
          <p:cNvPr id="13" name="Text 11"/>
          <p:cNvSpPr/>
          <p:nvPr/>
        </p:nvSpPr>
        <p:spPr>
          <a:xfrm>
            <a:off x="1005840" y="3154680"/>
            <a:ext cx="457200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Pure JavaScript / WebAssembly implementations of Verhoeff D5 dihedral matrices, PAN syntax parser &amp; MRZ calculators.</a:t>
            </a:r>
            <a:endParaRPr lang="en-US" sz="1000" dirty="0"/>
          </a:p>
        </p:txBody>
      </p:sp>
      <p:sp>
        <p:nvSpPr>
          <p:cNvPr id="14" name="Text 12"/>
          <p:cNvSpPr/>
          <p:nvPr/>
        </p:nvSpPr>
        <p:spPr>
          <a:xfrm>
            <a:off x="1005840" y="3840480"/>
            <a:ext cx="45720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Vision &amp; Micro-Inspection</a:t>
            </a:r>
            <a:endParaRPr lang="en-US" sz="1100" dirty="0"/>
          </a:p>
        </p:txBody>
      </p:sp>
      <p:sp>
        <p:nvSpPr>
          <p:cNvPr id="15" name="Text 13"/>
          <p:cNvSpPr/>
          <p:nvPr/>
        </p:nvSpPr>
        <p:spPr>
          <a:xfrm>
            <a:off x="1005840" y="4069080"/>
            <a:ext cx="457200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OpenCV.js and OpenCV Python for spatial gradient analysis, edge seam calculation and frequency-domain transforms.</a:t>
            </a:r>
            <a:endParaRPr lang="en-US" sz="1000" dirty="0"/>
          </a:p>
        </p:txBody>
      </p:sp>
      <p:sp>
        <p:nvSpPr>
          <p:cNvPr id="16" name="Text 14"/>
          <p:cNvSpPr/>
          <p:nvPr/>
        </p:nvSpPr>
        <p:spPr>
          <a:xfrm>
            <a:off x="1005840" y="4754880"/>
            <a:ext cx="45720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Backend &amp; Microservices</a:t>
            </a:r>
            <a:endParaRPr lang="en-US" sz="1100" dirty="0"/>
          </a:p>
        </p:txBody>
      </p:sp>
      <p:sp>
        <p:nvSpPr>
          <p:cNvPr id="17" name="Text 15"/>
          <p:cNvSpPr/>
          <p:nvPr/>
        </p:nvSpPr>
        <p:spPr>
          <a:xfrm>
            <a:off x="1005840" y="4983480"/>
            <a:ext cx="457200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Python FastAPI / Rust microservices accelerated with ONNX Runtime for high-throughput batch screening.</a:t>
            </a:r>
            <a:endParaRPr lang="en-US" sz="1000" dirty="0"/>
          </a:p>
        </p:txBody>
      </p:sp>
      <p:sp>
        <p:nvSpPr>
          <p:cNvPr id="18" name="Shape 16"/>
          <p:cNvSpPr/>
          <p:nvPr/>
        </p:nvSpPr>
        <p:spPr>
          <a:xfrm>
            <a:off x="6217920" y="1371600"/>
            <a:ext cx="5212080" cy="4572000"/>
          </a:xfrm>
          <a:prstGeom prst="roundRect">
            <a:avLst>
              <a:gd name="adj" fmla="val 2000"/>
            </a:avLst>
          </a:prstGeom>
          <a:solidFill>
            <a:srgbClr val="131B2E"/>
          </a:solidFill>
          <a:ln w="12700">
            <a:solidFill>
              <a:srgbClr val="1E2E4A"/>
            </a:solidFill>
            <a:prstDash val="solid"/>
          </a:ln>
        </p:spPr>
      </p:sp>
      <p:sp>
        <p:nvSpPr>
          <p:cNvPr id="19" name="Text 17"/>
          <p:cNvSpPr/>
          <p:nvPr/>
        </p:nvSpPr>
        <p:spPr>
          <a:xfrm>
            <a:off x="6492240" y="1554480"/>
            <a:ext cx="4663440" cy="320040"/>
          </a:xfrm>
          <a:prstGeom prst="rect">
            <a:avLst/>
          </a:prstGeom>
          <a:noFill/>
          <a:ln/>
        </p:spPr>
        <p:txBody>
          <a:bodyPr wrap="square"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DPDP Act 2023 &amp; Security Controls</a:t>
            </a:r>
            <a:endParaRPr lang="en-US" sz="1400" dirty="0"/>
          </a:p>
        </p:txBody>
      </p:sp>
      <p:sp>
        <p:nvSpPr>
          <p:cNvPr id="20" name="Text 18"/>
          <p:cNvSpPr/>
          <p:nvPr/>
        </p:nvSpPr>
        <p:spPr>
          <a:xfrm>
            <a:off x="6492240" y="201168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Zero Raw Document Retention</a:t>
            </a:r>
            <a:endParaRPr lang="en-US" sz="1100" dirty="0"/>
          </a:p>
        </p:txBody>
      </p:sp>
      <p:sp>
        <p:nvSpPr>
          <p:cNvPr id="21" name="Text 19"/>
          <p:cNvSpPr/>
          <p:nvPr/>
        </p:nvSpPr>
        <p:spPr>
          <a:xfrm>
            <a:off x="6492240" y="2240280"/>
            <a:ext cx="466344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Citizen identity images are analyzed in volatile RAM and immediately wiped. No centralized honey-pot database of identity cards is created.</a:t>
            </a:r>
            <a:endParaRPr lang="en-US" sz="1000" dirty="0"/>
          </a:p>
        </p:txBody>
      </p:sp>
      <p:sp>
        <p:nvSpPr>
          <p:cNvPr id="22" name="Text 20"/>
          <p:cNvSpPr/>
          <p:nvPr/>
        </p:nvSpPr>
        <p:spPr>
          <a:xfrm>
            <a:off x="6492240" y="292608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Automated Aadhaar Masking</a:t>
            </a:r>
            <a:endParaRPr lang="en-US" sz="1100" dirty="0"/>
          </a:p>
        </p:txBody>
      </p:sp>
      <p:sp>
        <p:nvSpPr>
          <p:cNvPr id="23" name="Text 21"/>
          <p:cNvSpPr/>
          <p:nvPr/>
        </p:nvSpPr>
        <p:spPr>
          <a:xfrm>
            <a:off x="6492240" y="3154680"/>
            <a:ext cx="466344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The first 8 digits are automatically redacted (XXXX-XXXX-1234) on all user interfaces in compliance with UIDAI regulations.</a:t>
            </a:r>
            <a:endParaRPr lang="en-US" sz="1000" dirty="0"/>
          </a:p>
        </p:txBody>
      </p:sp>
      <p:sp>
        <p:nvSpPr>
          <p:cNvPr id="24" name="Text 22"/>
          <p:cNvSpPr/>
          <p:nvPr/>
        </p:nvSpPr>
        <p:spPr>
          <a:xfrm>
            <a:off x="6492240" y="384048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Edge Execution Capable</a:t>
            </a:r>
            <a:endParaRPr lang="en-US" sz="1100" dirty="0"/>
          </a:p>
        </p:txBody>
      </p:sp>
      <p:sp>
        <p:nvSpPr>
          <p:cNvPr id="25" name="Text 23"/>
          <p:cNvSpPr/>
          <p:nvPr/>
        </p:nvSpPr>
        <p:spPr>
          <a:xfrm>
            <a:off x="6492240" y="4069080"/>
            <a:ext cx="466344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Client-side processing eliminates the need to transmit sensitive citizen data over external public internet networks.</a:t>
            </a:r>
            <a:endParaRPr lang="en-US" sz="1000" dirty="0"/>
          </a:p>
        </p:txBody>
      </p:sp>
      <p:sp>
        <p:nvSpPr>
          <p:cNvPr id="26" name="Text 24"/>
          <p:cNvSpPr/>
          <p:nvPr/>
        </p:nvSpPr>
        <p:spPr>
          <a:xfrm>
            <a:off x="6492240" y="4754880"/>
            <a:ext cx="466344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Cryptographic Tamper Seal</a:t>
            </a:r>
            <a:endParaRPr lang="en-US" sz="1100" dirty="0"/>
          </a:p>
        </p:txBody>
      </p:sp>
      <p:sp>
        <p:nvSpPr>
          <p:cNvPr id="27" name="Text 25"/>
          <p:cNvSpPr/>
          <p:nvPr/>
        </p:nvSpPr>
        <p:spPr>
          <a:xfrm>
            <a:off x="6492240" y="4983480"/>
            <a:ext cx="4663440" cy="59436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SHA-256 evidence hashing establishes an immutable chain of custody for police chargesheets.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LEGAL ADMISSIBILITY</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Bharatiya Sakshya Adhiniyam 2023 / Section 65B Compliance</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371600"/>
            <a:ext cx="5120640" cy="4572000"/>
          </a:xfrm>
          <a:prstGeom prst="roundRect">
            <a:avLst>
              <a:gd name="adj" fmla="val 2000"/>
            </a:avLst>
          </a:prstGeom>
          <a:solidFill>
            <a:srgbClr val="131B2E"/>
          </a:solidFill>
          <a:ln w="12700">
            <a:solidFill>
              <a:srgbClr val="1E2E4A"/>
            </a:solidFill>
            <a:prstDash val="solid"/>
          </a:ln>
        </p:spPr>
      </p:sp>
      <p:sp>
        <p:nvSpPr>
          <p:cNvPr id="9" name="Text 7"/>
          <p:cNvSpPr/>
          <p:nvPr/>
        </p:nvSpPr>
        <p:spPr>
          <a:xfrm>
            <a:off x="1005840" y="1554480"/>
            <a:ext cx="4572000" cy="320040"/>
          </a:xfrm>
          <a:prstGeom prst="rect">
            <a:avLst/>
          </a:prstGeom>
          <a:noFill/>
          <a:ln/>
        </p:spPr>
        <p:txBody>
          <a:bodyPr wrap="square" rtlCol="0" anchor="ctr"/>
          <a:lstStyle/>
          <a:p>
            <a:pPr indent="0" marL="0">
              <a:buNone/>
            </a:pPr>
            <a:r>
              <a:rPr lang="en-US" sz="1400" b="1" dirty="0">
                <a:solidFill>
                  <a:srgbClr val="00F0FF"/>
                </a:solidFill>
                <a:latin typeface="Calibri" pitchFamily="34" charset="0"/>
                <a:ea typeface="Calibri" pitchFamily="34" charset="-122"/>
                <a:cs typeface="Calibri" pitchFamily="34" charset="-120"/>
              </a:rPr>
              <a:t>Bridging the AI-Judiciary Divide</a:t>
            </a:r>
            <a:endParaRPr lang="en-US" sz="1400" dirty="0"/>
          </a:p>
        </p:txBody>
      </p:sp>
      <p:sp>
        <p:nvSpPr>
          <p:cNvPr id="10" name="Text 8"/>
          <p:cNvSpPr/>
          <p:nvPr/>
        </p:nvSpPr>
        <p:spPr>
          <a:xfrm>
            <a:off x="1005840" y="2011680"/>
            <a:ext cx="4572000" cy="37490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Statutory Evidence Requirement:
</a:t>
            </a:r>
            <a:pPr indent="0" marL="0">
              <a:buNone/>
            </a:pPr>
            <a:r>
              <a:rPr lang="en-US" sz="1100" dirty="0">
                <a:solidFill>
                  <a:srgbClr val="94A3B8"/>
                </a:solidFill>
                <a:latin typeface="Calibri" pitchFamily="34" charset="0"/>
                <a:ea typeface="Calibri" pitchFamily="34" charset="-122"/>
                <a:cs typeface="Calibri" pitchFamily="34" charset="-120"/>
              </a:rPr>
              <a:t>Under Section 63 of the Bharatiya Sakshya Adhiniyam (BSA) 2023 (formerly Section 65B of the Indian Evidence Act, 1872), electronic records are only admissible if accompanied by an official certificate establishing system parameters and chain of custody.
</a:t>
            </a:r>
            <a:pPr indent="0" marL="0">
              <a:buNone/>
            </a:pPr>
            <a:r>
              <a:rPr lang="en-US" sz="1100" b="1" dirty="0">
                <a:solidFill>
                  <a:srgbClr val="FFFFFF"/>
                </a:solidFill>
                <a:latin typeface="Calibri" pitchFamily="34" charset="0"/>
                <a:ea typeface="Calibri" pitchFamily="34" charset="-122"/>
                <a:cs typeface="Calibri" pitchFamily="34" charset="-120"/>
              </a:rPr>
              <a:t>• Why Black-Box AI Fails:
</a:t>
            </a:r>
            <a:pPr indent="0" marL="0">
              <a:buNone/>
            </a:pPr>
            <a:r>
              <a:rPr lang="en-US" sz="1100" dirty="0">
                <a:solidFill>
                  <a:srgbClr val="94A3B8"/>
                </a:solidFill>
                <a:latin typeface="Calibri" pitchFamily="34" charset="0"/>
                <a:ea typeface="Calibri" pitchFamily="34" charset="-122"/>
                <a:cs typeface="Calibri" pitchFamily="34" charset="-120"/>
              </a:rPr>
              <a:t>Defense counsel routinely get AI detections thrown out by arguing that "black-box software generated an unexplained probability score."
</a:t>
            </a:r>
            <a:pPr indent="0" marL="0">
              <a:buNone/>
            </a:pPr>
            <a:r>
              <a:rPr lang="en-US" sz="1100" b="1" dirty="0">
                <a:solidFill>
                  <a:srgbClr val="10B981"/>
                </a:solidFill>
                <a:latin typeface="Calibri" pitchFamily="34" charset="0"/>
                <a:ea typeface="Calibri" pitchFamily="34" charset="-122"/>
                <a:cs typeface="Calibri" pitchFamily="34" charset="-120"/>
              </a:rPr>
              <a:t>• SATYA-ID Solves This:
</a:t>
            </a:r>
            <a:pPr indent="0" marL="0">
              <a:buNone/>
            </a:pPr>
            <a:r>
              <a:rPr lang="en-US" sz="1100" b="1" dirty="0">
                <a:solidFill>
                  <a:srgbClr val="FFFFFF"/>
                </a:solidFill>
                <a:latin typeface="Calibri" pitchFamily="34" charset="0"/>
                <a:ea typeface="Calibri" pitchFamily="34" charset="-122"/>
                <a:cs typeface="Calibri" pitchFamily="34" charset="-120"/>
              </a:rPr>
              <a:t>SATYA-ID auto-generates a signed, court-admissible Forensic Examination Certificate with mathematical proof and exact pixel coordinates.</a:t>
            </a:r>
            <a:endParaRPr lang="en-US" sz="1100" dirty="0"/>
          </a:p>
        </p:txBody>
      </p:sp>
      <p:sp>
        <p:nvSpPr>
          <p:cNvPr id="11" name="Shape 9"/>
          <p:cNvSpPr/>
          <p:nvPr/>
        </p:nvSpPr>
        <p:spPr>
          <a:xfrm>
            <a:off x="6217920" y="1371600"/>
            <a:ext cx="5212080" cy="4572000"/>
          </a:xfrm>
          <a:prstGeom prst="roundRect">
            <a:avLst>
              <a:gd name="adj" fmla="val 2000"/>
            </a:avLst>
          </a:prstGeom>
          <a:solidFill>
            <a:srgbClr val="FFFFFF"/>
          </a:solidFill>
          <a:ln w="12700">
            <a:solidFill>
              <a:srgbClr val="1E2E4A"/>
            </a:solidFill>
            <a:prstDash val="solid"/>
          </a:ln>
        </p:spPr>
      </p:sp>
      <p:sp>
        <p:nvSpPr>
          <p:cNvPr id="12" name="Text 10"/>
          <p:cNvSpPr/>
          <p:nvPr/>
        </p:nvSpPr>
        <p:spPr>
          <a:xfrm>
            <a:off x="6492240" y="1554480"/>
            <a:ext cx="4663440" cy="274320"/>
          </a:xfrm>
          <a:prstGeom prst="rect">
            <a:avLst/>
          </a:prstGeom>
          <a:noFill/>
          <a:ln/>
        </p:spPr>
        <p:txBody>
          <a:bodyPr wrap="square"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CERTIFICATE OF ELECTRONIC EVIDENCE (BSA 2023)</a:t>
            </a:r>
            <a:endParaRPr lang="en-US" sz="1100" dirty="0"/>
          </a:p>
        </p:txBody>
      </p:sp>
      <p:sp>
        <p:nvSpPr>
          <p:cNvPr id="13" name="Shape 11"/>
          <p:cNvSpPr/>
          <p:nvPr/>
        </p:nvSpPr>
        <p:spPr>
          <a:xfrm>
            <a:off x="6492240" y="1874520"/>
            <a:ext cx="4663440" cy="18288"/>
          </a:xfrm>
          <a:prstGeom prst="rect">
            <a:avLst/>
          </a:prstGeom>
          <a:solidFill>
            <a:srgbClr val="0F172A"/>
          </a:solidFill>
          <a:ln/>
        </p:spPr>
      </p:sp>
      <p:sp>
        <p:nvSpPr>
          <p:cNvPr id="14" name="Text 12"/>
          <p:cNvSpPr/>
          <p:nvPr/>
        </p:nvSpPr>
        <p:spPr>
          <a:xfrm>
            <a:off x="6492240" y="1965960"/>
            <a:ext cx="4663440" cy="3749040"/>
          </a:xfrm>
          <a:prstGeom prst="rect">
            <a:avLst/>
          </a:prstGeom>
          <a:noFill/>
          <a:ln/>
        </p:spPr>
        <p:txBody>
          <a:bodyPr wrap="square" rtlCol="0" anchor="ctr"/>
          <a:lstStyle/>
          <a:p>
            <a:pPr indent="0" marL="0">
              <a:buNone/>
            </a:pPr>
            <a:r>
              <a:rPr lang="en-US" sz="950" b="1" dirty="0">
                <a:solidFill>
                  <a:srgbClr val="0F172A"/>
                </a:solidFill>
                <a:latin typeface="Calibri" pitchFamily="34" charset="0"/>
                <a:ea typeface="Calibri" pitchFamily="34" charset="-122"/>
                <a:cs typeface="Calibri" pitchFamily="34" charset="-120"/>
              </a:rPr>
              <a:t>CASE ID: </a:t>
            </a:r>
            <a:pPr indent="0" marL="0">
              <a:buNone/>
            </a:pPr>
            <a:r>
              <a:rPr lang="en-US" sz="950" dirty="0">
                <a:solidFill>
                  <a:srgbClr val="334155"/>
                </a:solidFill>
                <a:latin typeface="Calibri" pitchFamily="34" charset="0"/>
                <a:ea typeface="Calibri" pitchFamily="34" charset="-122"/>
                <a:cs typeface="Calibri" pitchFamily="34" charset="-120"/>
              </a:rPr>
              <a:t>MHA-SATYA-2026-89104
</a:t>
            </a:r>
            <a:pPr indent="0" marL="0">
              <a:buNone/>
            </a:pPr>
            <a:r>
              <a:rPr lang="en-US" sz="950" b="1" dirty="0">
                <a:solidFill>
                  <a:srgbClr val="0F172A"/>
                </a:solidFill>
                <a:latin typeface="Calibri" pitchFamily="34" charset="0"/>
                <a:ea typeface="Calibri" pitchFamily="34" charset="-122"/>
                <a:cs typeface="Calibri" pitchFamily="34" charset="-120"/>
              </a:rPr>
              <a:t>INGESTION TIME: </a:t>
            </a:r>
            <a:pPr indent="0" marL="0">
              <a:buNone/>
            </a:pPr>
            <a:r>
              <a:rPr lang="en-US" sz="950" dirty="0">
                <a:solidFill>
                  <a:srgbClr val="334155"/>
                </a:solidFill>
                <a:latin typeface="Calibri" pitchFamily="34" charset="0"/>
                <a:ea typeface="Calibri" pitchFamily="34" charset="-122"/>
                <a:cs typeface="Calibri" pitchFamily="34" charset="-120"/>
              </a:rPr>
              <a:t>2026-09-12T16:15:23Z
</a:t>
            </a:r>
            <a:pPr indent="0" marL="0">
              <a:buNone/>
            </a:pPr>
            <a:r>
              <a:rPr lang="en-US" sz="950" b="1" dirty="0">
                <a:solidFill>
                  <a:srgbClr val="0F172A"/>
                </a:solidFill>
                <a:latin typeface="Calibri" pitchFamily="34" charset="0"/>
                <a:ea typeface="Calibri" pitchFamily="34" charset="-122"/>
                <a:cs typeface="Calibri" pitchFamily="34" charset="-120"/>
              </a:rPr>
              <a:t>EVIDENCE SHA-256: </a:t>
            </a:r>
            <a:pPr indent="0" marL="0">
              <a:buNone/>
            </a:pPr>
            <a:r>
              <a:rPr lang="en-US" sz="950" dirty="0">
                <a:solidFill>
                  <a:srgbClr val="0284C7"/>
                </a:solidFill>
                <a:latin typeface="Calibri" pitchFamily="34" charset="0"/>
                <a:ea typeface="Calibri" pitchFamily="34" charset="-122"/>
                <a:cs typeface="Calibri" pitchFamily="34" charset="-120"/>
              </a:rPr>
              <a:t>7f83b1657ff1fc53...e037
</a:t>
            </a:r>
            <a:pPr indent="0" marL="0">
              <a:buNone/>
            </a:pPr>
            <a:r>
              <a:rPr lang="en-US" sz="950" b="1" dirty="0">
                <a:solidFill>
                  <a:srgbClr val="991B1B"/>
                </a:solidFill>
                <a:latin typeface="Calibri" pitchFamily="34" charset="0"/>
                <a:ea typeface="Calibri" pitchFamily="34" charset="-122"/>
                <a:cs typeface="Calibri" pitchFamily="34" charset="-120"/>
              </a:rPr>
              <a:t>VERDICT: CRITICAL FORGERY DETECTED (14%)
</a:t>
            </a:r>
            <a:pPr indent="0" marL="0">
              <a:buNone/>
            </a:pPr>
            <a:r>
              <a:rPr lang="en-US" sz="950" b="1" dirty="0">
                <a:solidFill>
                  <a:srgbClr val="0F172A"/>
                </a:solidFill>
                <a:latin typeface="Calibri" pitchFamily="34" charset="0"/>
                <a:ea typeface="Calibri" pitchFamily="34" charset="-122"/>
                <a:cs typeface="Calibri" pitchFamily="34" charset="-120"/>
              </a:rPr>
              <a:t>ITEMIZED EVIDENTIARY VIOLATIONS:
</a:t>
            </a:r>
            <a:pPr indent="0" marL="0">
              <a:buNone/>
            </a:pPr>
            <a:r>
              <a:rPr lang="en-US" sz="950" dirty="0">
                <a:solidFill>
                  <a:srgbClr val="475569"/>
                </a:solidFill>
                <a:latin typeface="Calibri" pitchFamily="34" charset="0"/>
                <a:ea typeface="Calibri" pitchFamily="34" charset="-122"/>
                <a:cs typeface="Calibri" pitchFamily="34" charset="-120"/>
              </a:rPr>
              <a:t>1. Verhoeff D5 Checksum Failure: Mutated check digit.
</a:t>
            </a:r>
            <a:pPr indent="0" marL="0">
              <a:buNone/>
            </a:pPr>
            <a:r>
              <a:rPr lang="en-US" sz="950" dirty="0">
                <a:solidFill>
                  <a:srgbClr val="475569"/>
                </a:solidFill>
                <a:latin typeface="Calibri" pitchFamily="34" charset="0"/>
                <a:ea typeface="Calibri" pitchFamily="34" charset="-122"/>
                <a:cs typeface="Calibri" pitchFamily="34" charset="-120"/>
              </a:rPr>
              <a:t>2. ELA Tamper Spike: Localized re-compression at DOB.
</a:t>
            </a:r>
            <a:pPr indent="0" marL="0">
              <a:buNone/>
            </a:pPr>
            <a:r>
              <a:rPr lang="en-US" sz="950" dirty="0">
                <a:solidFill>
                  <a:srgbClr val="475569"/>
                </a:solidFill>
                <a:latin typeface="Calibri" pitchFamily="34" charset="0"/>
                <a:ea typeface="Calibri" pitchFamily="34" charset="-122"/>
                <a:cs typeface="Calibri" pitchFamily="34" charset="-120"/>
              </a:rPr>
              <a:t>3. Font Metrology Jitter: σ = 2.45px (Arial font used).
</a:t>
            </a:r>
            <a:pPr indent="0" marL="0">
              <a:buNone/>
            </a:pPr>
            <a:r>
              <a:rPr lang="en-US" sz="950" b="1" dirty="0">
                <a:solidFill>
                  <a:srgbClr val="0F172A"/>
                </a:solidFill>
                <a:latin typeface="Calibri" pitchFamily="34" charset="0"/>
                <a:ea typeface="Calibri" pitchFamily="34" charset="-122"/>
                <a:cs typeface="Calibri" pitchFamily="34" charset="-120"/>
              </a:rPr>
              <a:t>OFFICER SIGNATURE: _____________________________
</a:t>
            </a:r>
            <a:pPr indent="0" marL="0">
              <a:buNone/>
            </a:pPr>
            <a:r>
              <a:rPr lang="en-US" sz="950" i="1" dirty="0">
                <a:solidFill>
                  <a:srgbClr val="64748B"/>
                </a:solidFill>
                <a:latin typeface="Calibri" pitchFamily="34" charset="0"/>
                <a:ea typeface="Calibri" pitchFamily="34" charset="-122"/>
                <a:cs typeface="Calibri" pitchFamily="34" charset="-120"/>
              </a:rPr>
              <a:t>National Cyber Crime Forensic Laboratory / MHA I4C</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FIELD VALIDATION</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Real-World Case Studies &amp; Forensic Ground Truth</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463040"/>
            <a:ext cx="3383280" cy="4389120"/>
          </a:xfrm>
          <a:prstGeom prst="roundRect">
            <a:avLst>
              <a:gd name="adj" fmla="val 2703"/>
            </a:avLst>
          </a:prstGeom>
          <a:solidFill>
            <a:srgbClr val="131B2E"/>
          </a:solidFill>
          <a:ln w="12700">
            <a:solidFill>
              <a:srgbClr val="1E2E4A"/>
            </a:solidFill>
            <a:prstDash val="solid"/>
          </a:ln>
        </p:spPr>
      </p:sp>
      <p:sp>
        <p:nvSpPr>
          <p:cNvPr id="9" name="Text 7"/>
          <p:cNvSpPr/>
          <p:nvPr/>
        </p:nvSpPr>
        <p:spPr>
          <a:xfrm>
            <a:off x="914400" y="1645920"/>
            <a:ext cx="3017520" cy="411480"/>
          </a:xfrm>
          <a:prstGeom prst="rect">
            <a:avLst/>
          </a:prstGeom>
          <a:noFill/>
          <a:ln/>
        </p:spPr>
        <p:txBody>
          <a:bodyPr wrap="square"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Case 1: Mewat SIM Box Racket</a:t>
            </a:r>
            <a:endParaRPr lang="en-US" sz="1300" dirty="0"/>
          </a:p>
        </p:txBody>
      </p:sp>
      <p:sp>
        <p:nvSpPr>
          <p:cNvPr id="10" name="Text 8"/>
          <p:cNvSpPr/>
          <p:nvPr/>
        </p:nvSpPr>
        <p:spPr>
          <a:xfrm>
            <a:off x="914400" y="2148840"/>
            <a:ext cx="3017520" cy="16459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Modus Operandi: Over 4,500 counterfeit PVC Aadhaar cards printed with photoshopped DOB &amp; names to activate ghost SIMs for cyber extortion.</a:t>
            </a:r>
            <a:endParaRPr lang="en-US" sz="1050" dirty="0"/>
          </a:p>
        </p:txBody>
      </p:sp>
      <p:sp>
        <p:nvSpPr>
          <p:cNvPr id="11" name="Shape 9"/>
          <p:cNvSpPr/>
          <p:nvPr/>
        </p:nvSpPr>
        <p:spPr>
          <a:xfrm>
            <a:off x="914400" y="3931920"/>
            <a:ext cx="3017520" cy="1737360"/>
          </a:xfrm>
          <a:prstGeom prst="roundRect">
            <a:avLst>
              <a:gd name="adj" fmla="val 4211"/>
            </a:avLst>
          </a:prstGeom>
          <a:solidFill>
            <a:srgbClr val="060A12"/>
          </a:solidFill>
          <a:ln w="12700">
            <a:solidFill>
              <a:srgbClr val="10B981"/>
            </a:solidFill>
            <a:prstDash val="solid"/>
          </a:ln>
        </p:spPr>
      </p:sp>
      <p:sp>
        <p:nvSpPr>
          <p:cNvPr id="12" name="Text 10"/>
          <p:cNvSpPr/>
          <p:nvPr/>
        </p:nvSpPr>
        <p:spPr>
          <a:xfrm>
            <a:off x="1005840" y="4069080"/>
            <a:ext cx="2834640" cy="146304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SATYA-ID Result: 100% intercepted via Verhoeff checksum failure and glowing ELA compression rectangle over modified text box.</a:t>
            </a:r>
            <a:endParaRPr lang="en-US" sz="1000" dirty="0"/>
          </a:p>
        </p:txBody>
      </p:sp>
      <p:sp>
        <p:nvSpPr>
          <p:cNvPr id="13" name="Shape 11"/>
          <p:cNvSpPr/>
          <p:nvPr/>
        </p:nvSpPr>
        <p:spPr>
          <a:xfrm>
            <a:off x="4389120" y="1463040"/>
            <a:ext cx="3383280" cy="4389120"/>
          </a:xfrm>
          <a:prstGeom prst="roundRect">
            <a:avLst>
              <a:gd name="adj" fmla="val 2703"/>
            </a:avLst>
          </a:prstGeom>
          <a:solidFill>
            <a:srgbClr val="131B2E"/>
          </a:solidFill>
          <a:ln w="12700">
            <a:solidFill>
              <a:srgbClr val="1E2E4A"/>
            </a:solidFill>
            <a:prstDash val="solid"/>
          </a:ln>
        </p:spPr>
      </p:sp>
      <p:sp>
        <p:nvSpPr>
          <p:cNvPr id="14" name="Text 12"/>
          <p:cNvSpPr/>
          <p:nvPr/>
        </p:nvSpPr>
        <p:spPr>
          <a:xfrm>
            <a:off x="4572000" y="1645920"/>
            <a:ext cx="3017520" cy="411480"/>
          </a:xfrm>
          <a:prstGeom prst="rect">
            <a:avLst/>
          </a:prstGeom>
          <a:noFill/>
          <a:ln/>
        </p:spPr>
        <p:txBody>
          <a:bodyPr wrap="square"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Case 2: Airport e-Gate Passport Morphing</a:t>
            </a:r>
            <a:endParaRPr lang="en-US" sz="1300" dirty="0"/>
          </a:p>
        </p:txBody>
      </p:sp>
      <p:sp>
        <p:nvSpPr>
          <p:cNvPr id="15" name="Text 13"/>
          <p:cNvSpPr/>
          <p:nvPr/>
        </p:nvSpPr>
        <p:spPr>
          <a:xfrm>
            <a:off x="4572000" y="2148840"/>
            <a:ext cx="3017520" cy="16459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Modus Operandi: Human trafficking syndicate combined facial features of wanted fugitive with a clean citizen to cross automated e-gates.</a:t>
            </a:r>
            <a:endParaRPr lang="en-US" sz="1050" dirty="0"/>
          </a:p>
        </p:txBody>
      </p:sp>
      <p:sp>
        <p:nvSpPr>
          <p:cNvPr id="16" name="Shape 14"/>
          <p:cNvSpPr/>
          <p:nvPr/>
        </p:nvSpPr>
        <p:spPr>
          <a:xfrm>
            <a:off x="4572000" y="3931920"/>
            <a:ext cx="3017520" cy="1737360"/>
          </a:xfrm>
          <a:prstGeom prst="roundRect">
            <a:avLst>
              <a:gd name="adj" fmla="val 4211"/>
            </a:avLst>
          </a:prstGeom>
          <a:solidFill>
            <a:srgbClr val="060A12"/>
          </a:solidFill>
          <a:ln w="12700">
            <a:solidFill>
              <a:srgbClr val="10B981"/>
            </a:solidFill>
            <a:prstDash val="solid"/>
          </a:ln>
        </p:spPr>
      </p:sp>
      <p:sp>
        <p:nvSpPr>
          <p:cNvPr id="17" name="Text 15"/>
          <p:cNvSpPr/>
          <p:nvPr/>
        </p:nvSpPr>
        <p:spPr>
          <a:xfrm>
            <a:off x="4663440" y="4069080"/>
            <a:ext cx="2834640" cy="146304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SATYA-ID Result: Flagged via high-pass Laplacian spectral analysis detecting generative diffusion smoothing and seam discontinuity.</a:t>
            </a:r>
            <a:endParaRPr lang="en-US" sz="1000" dirty="0"/>
          </a:p>
        </p:txBody>
      </p:sp>
      <p:sp>
        <p:nvSpPr>
          <p:cNvPr id="18" name="Shape 16"/>
          <p:cNvSpPr/>
          <p:nvPr/>
        </p:nvSpPr>
        <p:spPr>
          <a:xfrm>
            <a:off x="8046720" y="1463040"/>
            <a:ext cx="3383280" cy="4389120"/>
          </a:xfrm>
          <a:prstGeom prst="roundRect">
            <a:avLst>
              <a:gd name="adj" fmla="val 2703"/>
            </a:avLst>
          </a:prstGeom>
          <a:solidFill>
            <a:srgbClr val="131B2E"/>
          </a:solidFill>
          <a:ln w="12700">
            <a:solidFill>
              <a:srgbClr val="1E2E4A"/>
            </a:solidFill>
            <a:prstDash val="solid"/>
          </a:ln>
        </p:spPr>
      </p:sp>
      <p:sp>
        <p:nvSpPr>
          <p:cNvPr id="19" name="Text 17"/>
          <p:cNvSpPr/>
          <p:nvPr/>
        </p:nvSpPr>
        <p:spPr>
          <a:xfrm>
            <a:off x="8229600" y="1645920"/>
            <a:ext cx="3017520" cy="411480"/>
          </a:xfrm>
          <a:prstGeom prst="rect">
            <a:avLst/>
          </a:prstGeom>
          <a:noFill/>
          <a:ln/>
        </p:spPr>
        <p:txBody>
          <a:bodyPr wrap="square" rtlCol="0" anchor="ctr"/>
          <a:lstStyle/>
          <a:p>
            <a:pPr indent="0" marL="0">
              <a:buNone/>
            </a:pPr>
            <a:r>
              <a:rPr lang="en-US" sz="1300" b="1" dirty="0">
                <a:solidFill>
                  <a:srgbClr val="00F0FF"/>
                </a:solidFill>
                <a:latin typeface="Calibri" pitchFamily="34" charset="0"/>
                <a:ea typeface="Calibri" pitchFamily="34" charset="-122"/>
                <a:cs typeface="Calibri" pitchFamily="34" charset="-120"/>
              </a:rPr>
              <a:t>Case 3: Synthetic Identity Loan Scams</a:t>
            </a:r>
            <a:endParaRPr lang="en-US" sz="1300" dirty="0"/>
          </a:p>
        </p:txBody>
      </p:sp>
      <p:sp>
        <p:nvSpPr>
          <p:cNvPr id="20" name="Text 18"/>
          <p:cNvSpPr/>
          <p:nvPr/>
        </p:nvSpPr>
        <p:spPr>
          <a:xfrm>
            <a:off x="8229600" y="2148840"/>
            <a:ext cx="3017520" cy="16459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Modus Operandi: Fraudsters combined valid PAN numbers with fabricated Aadhaar cards to siphon unsecured digital retail loans.</a:t>
            </a:r>
            <a:endParaRPr lang="en-US" sz="1050" dirty="0"/>
          </a:p>
        </p:txBody>
      </p:sp>
      <p:sp>
        <p:nvSpPr>
          <p:cNvPr id="21" name="Shape 19"/>
          <p:cNvSpPr/>
          <p:nvPr/>
        </p:nvSpPr>
        <p:spPr>
          <a:xfrm>
            <a:off x="8229600" y="3931920"/>
            <a:ext cx="3017520" cy="1737360"/>
          </a:xfrm>
          <a:prstGeom prst="roundRect">
            <a:avLst>
              <a:gd name="adj" fmla="val 4211"/>
            </a:avLst>
          </a:prstGeom>
          <a:solidFill>
            <a:srgbClr val="060A12"/>
          </a:solidFill>
          <a:ln w="12700">
            <a:solidFill>
              <a:srgbClr val="10B981"/>
            </a:solidFill>
            <a:prstDash val="solid"/>
          </a:ln>
        </p:spPr>
      </p:sp>
      <p:sp>
        <p:nvSpPr>
          <p:cNvPr id="22" name="Text 20"/>
          <p:cNvSpPr/>
          <p:nvPr/>
        </p:nvSpPr>
        <p:spPr>
          <a:xfrm>
            <a:off x="8321040" y="4069080"/>
            <a:ext cx="2834640" cy="1463040"/>
          </a:xfrm>
          <a:prstGeom prst="rect">
            <a:avLst/>
          </a:prstGeom>
          <a:noFill/>
          <a:ln/>
        </p:spPr>
        <p:txBody>
          <a:bodyPr wrap="square"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SATYA-ID Result: Intercepted via PAN 5th-character surname mismatch rule and sub-pixel typography kerning inconsistency.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F9933"/>
          </a:solidFill>
          <a:ln w="12700">
            <a:solidFill>
              <a:srgbClr val="FF9933"/>
            </a:solidFill>
            <a:prstDash val="solid"/>
          </a:ln>
        </p:spPr>
      </p:sp>
      <p:sp>
        <p:nvSpPr>
          <p:cNvPr id="3" name="Text 1"/>
          <p:cNvSpPr/>
          <p:nvPr/>
        </p:nvSpPr>
        <p:spPr>
          <a:xfrm>
            <a:off x="731520" y="320040"/>
            <a:ext cx="7315200" cy="27432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FUTURE VISION</a:t>
            </a:r>
            <a:endParaRPr lang="en-US" sz="1100" dirty="0"/>
          </a:p>
        </p:txBody>
      </p:sp>
      <p:sp>
        <p:nvSpPr>
          <p:cNvPr id="4" name="Text 2"/>
          <p:cNvSpPr/>
          <p:nvPr/>
        </p:nvSpPr>
        <p:spPr>
          <a:xfrm>
            <a:off x="731520" y="594360"/>
            <a:ext cx="91440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Implementation Roadmap, Scalability &amp; Live Demonstration</a:t>
            </a:r>
            <a:endParaRPr lang="en-US" sz="2200" dirty="0"/>
          </a:p>
        </p:txBody>
      </p:sp>
      <p:sp>
        <p:nvSpPr>
          <p:cNvPr id="5" name="Shape 3"/>
          <p:cNvSpPr/>
          <p:nvPr/>
        </p:nvSpPr>
        <p:spPr>
          <a:xfrm>
            <a:off x="9875520" y="411480"/>
            <a:ext cx="1645920" cy="320040"/>
          </a:xfrm>
          <a:prstGeom prst="roundRect">
            <a:avLst>
              <a:gd name="adj" fmla="val 28571"/>
            </a:avLst>
          </a:prstGeom>
          <a:solidFill>
            <a:srgbClr val="131B2E"/>
          </a:solidFill>
          <a:ln w="12700">
            <a:solidFill>
              <a:srgbClr val="F59E0B"/>
            </a:solidFill>
            <a:prstDash val="solid"/>
          </a:ln>
        </p:spPr>
      </p:sp>
      <p:sp>
        <p:nvSpPr>
          <p:cNvPr id="6" name="Text 4"/>
          <p:cNvSpPr/>
          <p:nvPr/>
        </p:nvSpPr>
        <p:spPr>
          <a:xfrm>
            <a:off x="9875520" y="411480"/>
            <a:ext cx="1645920" cy="32004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MHA / I4C</a:t>
            </a:r>
            <a:endParaRPr lang="en-US" sz="900" dirty="0"/>
          </a:p>
        </p:txBody>
      </p:sp>
      <p:sp>
        <p:nvSpPr>
          <p:cNvPr id="7" name="Shape 5"/>
          <p:cNvSpPr/>
          <p:nvPr/>
        </p:nvSpPr>
        <p:spPr>
          <a:xfrm>
            <a:off x="731520" y="1143000"/>
            <a:ext cx="10698480" cy="0"/>
          </a:xfrm>
          <a:prstGeom prst="line">
            <a:avLst/>
          </a:prstGeom>
          <a:noFill/>
          <a:ln w="12700">
            <a:solidFill>
              <a:srgbClr val="1E2E4A"/>
            </a:solidFill>
            <a:prstDash val="solid"/>
          </a:ln>
        </p:spPr>
      </p:sp>
      <p:sp>
        <p:nvSpPr>
          <p:cNvPr id="8" name="Shape 6"/>
          <p:cNvSpPr/>
          <p:nvPr/>
        </p:nvSpPr>
        <p:spPr>
          <a:xfrm>
            <a:off x="731520" y="1371600"/>
            <a:ext cx="5486400" cy="4572000"/>
          </a:xfrm>
          <a:prstGeom prst="roundRect">
            <a:avLst>
              <a:gd name="adj" fmla="val 2000"/>
            </a:avLst>
          </a:prstGeom>
          <a:solidFill>
            <a:srgbClr val="131B2E"/>
          </a:solidFill>
          <a:ln w="12700">
            <a:solidFill>
              <a:srgbClr val="1E2E4A"/>
            </a:solidFill>
            <a:prstDash val="solid"/>
          </a:ln>
        </p:spPr>
      </p:sp>
      <p:sp>
        <p:nvSpPr>
          <p:cNvPr id="9" name="Text 7"/>
          <p:cNvSpPr/>
          <p:nvPr/>
        </p:nvSpPr>
        <p:spPr>
          <a:xfrm>
            <a:off x="1005840" y="1554480"/>
            <a:ext cx="4937760" cy="320040"/>
          </a:xfrm>
          <a:prstGeom prst="rect">
            <a:avLst/>
          </a:prstGeom>
          <a:noFill/>
          <a:ln/>
        </p:spPr>
        <p:txBody>
          <a:bodyPr wrap="square" rtlCol="0" anchor="ctr"/>
          <a:lstStyle/>
          <a:p>
            <a:pPr indent="0" marL="0">
              <a:buNone/>
            </a:pPr>
            <a:r>
              <a:rPr lang="en-US" sz="1400" b="1" dirty="0">
                <a:solidFill>
                  <a:srgbClr val="00F0FF"/>
                </a:solidFill>
                <a:latin typeface="Calibri" pitchFamily="34" charset="0"/>
                <a:ea typeface="Calibri" pitchFamily="34" charset="-122"/>
                <a:cs typeface="Calibri" pitchFamily="34" charset="-120"/>
              </a:rPr>
              <a:t>3-Phase National Rollout Roadmap</a:t>
            </a:r>
            <a:endParaRPr lang="en-US" sz="1400" dirty="0"/>
          </a:p>
        </p:txBody>
      </p:sp>
      <p:sp>
        <p:nvSpPr>
          <p:cNvPr id="10" name="Text 8"/>
          <p:cNvSpPr/>
          <p:nvPr/>
        </p:nvSpPr>
        <p:spPr>
          <a:xfrm>
            <a:off x="1005840" y="2011680"/>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1: Hackathon Prototype (Current)</a:t>
            </a:r>
            <a:endParaRPr lang="en-US" sz="1100" dirty="0"/>
          </a:p>
        </p:txBody>
      </p:sp>
      <p:sp>
        <p:nvSpPr>
          <p:cNvPr id="11" name="Text 9"/>
          <p:cNvSpPr/>
          <p:nvPr/>
        </p:nvSpPr>
        <p:spPr>
          <a:xfrm>
            <a:off x="1005840" y="2240280"/>
            <a:ext cx="4937760" cy="8686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Core 5-tier screening engine operational, dual-canvas heatmaps, 5 preset test cases, and automated BSA 2023 certificate generator.</a:t>
            </a:r>
            <a:endParaRPr lang="en-US" sz="1000" dirty="0"/>
          </a:p>
        </p:txBody>
      </p:sp>
      <p:sp>
        <p:nvSpPr>
          <p:cNvPr id="12" name="Text 10"/>
          <p:cNvSpPr/>
          <p:nvPr/>
        </p:nvSpPr>
        <p:spPr>
          <a:xfrm>
            <a:off x="1005840" y="3246120"/>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2: State Cyber Cell Pilot (Months 1-3)</a:t>
            </a:r>
            <a:endParaRPr lang="en-US" sz="1100" dirty="0"/>
          </a:p>
        </p:txBody>
      </p:sp>
      <p:sp>
        <p:nvSpPr>
          <p:cNvPr id="13" name="Text 11"/>
          <p:cNvSpPr/>
          <p:nvPr/>
        </p:nvSpPr>
        <p:spPr>
          <a:xfrm>
            <a:off x="1005840" y="3474720"/>
            <a:ext cx="4937760" cy="8686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Integration with State Police Cyber Crime Units &amp; CCTNS; mobile field inspection Android SDK for telecom PoS vendors.</a:t>
            </a:r>
            <a:endParaRPr lang="en-US" sz="1000" dirty="0"/>
          </a:p>
        </p:txBody>
      </p:sp>
      <p:sp>
        <p:nvSpPr>
          <p:cNvPr id="14" name="Text 12"/>
          <p:cNvSpPr/>
          <p:nvPr/>
        </p:nvSpPr>
        <p:spPr>
          <a:xfrm>
            <a:off x="1005840" y="4480560"/>
            <a:ext cx="493776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3: National Deployment via I4C (Months 4-6)</a:t>
            </a:r>
            <a:endParaRPr lang="en-US" sz="1100" dirty="0"/>
          </a:p>
        </p:txBody>
      </p:sp>
      <p:sp>
        <p:nvSpPr>
          <p:cNvPr id="15" name="Text 13"/>
          <p:cNvSpPr/>
          <p:nvPr/>
        </p:nvSpPr>
        <p:spPr>
          <a:xfrm>
            <a:off x="1005840" y="4709160"/>
            <a:ext cx="4937760" cy="86868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Enterprise deployment at MHA I4C, Bureau of Immigration airport e-gates, and scheduled banking digital onboarding API gateways.</a:t>
            </a:r>
            <a:endParaRPr lang="en-US" sz="1000" dirty="0"/>
          </a:p>
        </p:txBody>
      </p:sp>
      <p:sp>
        <p:nvSpPr>
          <p:cNvPr id="16" name="Shape 14"/>
          <p:cNvSpPr/>
          <p:nvPr/>
        </p:nvSpPr>
        <p:spPr>
          <a:xfrm>
            <a:off x="6583680" y="1371600"/>
            <a:ext cx="4846320" cy="4572000"/>
          </a:xfrm>
          <a:prstGeom prst="roundRect">
            <a:avLst>
              <a:gd name="adj" fmla="val 2000"/>
            </a:avLst>
          </a:prstGeom>
          <a:solidFill>
            <a:srgbClr val="0F2B48"/>
          </a:solidFill>
          <a:ln w="19050">
            <a:solidFill>
              <a:srgbClr val="00F0FF"/>
            </a:solidFill>
            <a:prstDash val="solid"/>
          </a:ln>
        </p:spPr>
      </p:sp>
      <p:sp>
        <p:nvSpPr>
          <p:cNvPr id="17" name="Text 15"/>
          <p:cNvSpPr/>
          <p:nvPr/>
        </p:nvSpPr>
        <p:spPr>
          <a:xfrm>
            <a:off x="6858000" y="1645920"/>
            <a:ext cx="4297680" cy="41148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 Ready for Live Demonstration</a:t>
            </a:r>
            <a:endParaRPr lang="en-US" sz="1800" dirty="0"/>
          </a:p>
        </p:txBody>
      </p:sp>
      <p:sp>
        <p:nvSpPr>
          <p:cNvPr id="18" name="Text 16"/>
          <p:cNvSpPr/>
          <p:nvPr/>
        </p:nvSpPr>
        <p:spPr>
          <a:xfrm>
            <a:off x="6858000" y="2194560"/>
            <a:ext cx="4297680" cy="73152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We now invite the Respected Jury to witness SATYA-ID live in action with authentic and forged document test cases.</a:t>
            </a:r>
            <a:endParaRPr lang="en-US" sz="1200" dirty="0"/>
          </a:p>
        </p:txBody>
      </p:sp>
      <p:sp>
        <p:nvSpPr>
          <p:cNvPr id="19" name="Text 17"/>
          <p:cNvSpPr/>
          <p:nvPr/>
        </p:nvSpPr>
        <p:spPr>
          <a:xfrm>
            <a:off x="6858000" y="3017520"/>
            <a:ext cx="4297680" cy="2011680"/>
          </a:xfrm>
          <a:prstGeom prst="rect">
            <a:avLst/>
          </a:prstGeom>
          <a:noFill/>
          <a:ln/>
        </p:spPr>
        <p:txBody>
          <a:bodyPr wrap="square" rtlCol="0" anchor="ctr"/>
          <a:lstStyle/>
          <a:p>
            <a:pPr indent="0" marL="0">
              <a:buNone/>
            </a:pPr>
            <a:r>
              <a:rPr lang="en-US" sz="1100" b="1" dirty="0">
                <a:solidFill>
                  <a:srgbClr val="00F0FF"/>
                </a:solidFill>
                <a:latin typeface="Calibri" pitchFamily="34" charset="0"/>
                <a:ea typeface="Calibri" pitchFamily="34" charset="-122"/>
                <a:cs typeface="Calibri" pitchFamily="34" charset="-120"/>
              </a:rPr>
              <a:t>• Live Dual-Canvas ELA Tamper Heatmap Generation</a:t>
            </a:r>
            <a:endParaRPr lang="en-US" sz="1100" dirty="0"/>
          </a:p>
          <a:p>
            <a:pPr indent="0" marL="0">
              <a:buNone/>
            </a:pPr>
            <a:endParaRPr lang="en-US" sz="1100" dirty="0"/>
          </a:p>
          <a:p>
            <a:pPr indent="0" marL="0">
              <a:buNone/>
            </a:pPr>
            <a:r>
              <a:rPr lang="en-US" sz="1100" b="1" dirty="0">
                <a:solidFill>
                  <a:srgbClr val="00F0FF"/>
                </a:solidFill>
                <a:latin typeface="Calibri" pitchFamily="34" charset="0"/>
                <a:ea typeface="Calibri" pitchFamily="34" charset="-122"/>
                <a:cs typeface="Calibri" pitchFamily="34" charset="-120"/>
              </a:rPr>
              <a:t>• Real-time Verhoeff D5 Checksum Failure Catch</a:t>
            </a:r>
            <a:endParaRPr lang="en-US" sz="1100" dirty="0"/>
          </a:p>
          <a:p>
            <a:pPr indent="0" marL="0">
              <a:buNone/>
            </a:pPr>
            <a:endParaRPr lang="en-US" sz="1100" dirty="0"/>
          </a:p>
          <a:p>
            <a:pPr indent="0" marL="0">
              <a:buNone/>
            </a:pPr>
            <a:r>
              <a:rPr lang="en-US" sz="1100" b="1" dirty="0">
                <a:solidFill>
                  <a:srgbClr val="00F0FF"/>
                </a:solidFill>
                <a:latin typeface="Calibri" pitchFamily="34" charset="0"/>
                <a:ea typeface="Calibri" pitchFamily="34" charset="-122"/>
                <a:cs typeface="Calibri" pitchFamily="34" charset="-120"/>
              </a:rPr>
              <a:t>• Morphed Passport Biometric High-Pass Detection</a:t>
            </a:r>
            <a:endParaRPr lang="en-US" sz="1100" dirty="0"/>
          </a:p>
          <a:p>
            <a:pPr indent="0" marL="0">
              <a:buNone/>
            </a:pPr>
            <a:endParaRPr lang="en-US" sz="1100" dirty="0"/>
          </a:p>
          <a:p>
            <a:pPr indent="0" marL="0">
              <a:buNone/>
            </a:pPr>
            <a:r>
              <a:rPr lang="en-US" sz="1100" b="1" dirty="0">
                <a:solidFill>
                  <a:srgbClr val="00F0FF"/>
                </a:solidFill>
                <a:latin typeface="Calibri" pitchFamily="34" charset="0"/>
                <a:ea typeface="Calibri" pitchFamily="34" charset="-122"/>
                <a:cs typeface="Calibri" pitchFamily="34" charset="-120"/>
              </a:rPr>
              <a:t>• One-Click BSA 2023 Section 65B Certificate Generation</a:t>
            </a:r>
            <a:endParaRPr lang="en-US" sz="1100" dirty="0"/>
          </a:p>
        </p:txBody>
      </p:sp>
      <p:sp>
        <p:nvSpPr>
          <p:cNvPr id="20" name="Text 18"/>
          <p:cNvSpPr/>
          <p:nvPr/>
        </p:nvSpPr>
        <p:spPr>
          <a:xfrm>
            <a:off x="6858000" y="5212080"/>
            <a:ext cx="4297680" cy="365760"/>
          </a:xfrm>
          <a:prstGeom prst="rect">
            <a:avLst/>
          </a:prstGeom>
          <a:noFill/>
          <a:ln/>
        </p:spPr>
        <p:txBody>
          <a:bodyPr wrap="square"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Thank you! We welcome your questions and feedback.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Ministry of Home Affairs - Smart India Hackathon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SATYA-ID: AI-Based Fake Identity &amp; Document Screening System</dc:title>
  <dc:subject>PptxGenJS Presentation</dc:subject>
  <dc:creator>SIH Team</dc:creator>
  <cp:lastModifiedBy>SIH Team</cp:lastModifiedBy>
  <cp:revision>1</cp:revision>
  <dcterms:created xsi:type="dcterms:W3CDTF">2026-09-12T12:31:11Z</dcterms:created>
  <dcterms:modified xsi:type="dcterms:W3CDTF">2026-09-12T12:31:11Z</dcterms:modified>
</cp:coreProperties>
</file>